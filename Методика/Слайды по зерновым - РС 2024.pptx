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4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5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6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7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8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notesSlides/notesSlide9.xml" ContentType="application/vnd.openxmlformats-officedocument.presentationml.notesSlid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10.xml" ContentType="application/vnd.openxmlformats-officedocument.presentationml.notesSlid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11.xml" ContentType="application/vnd.openxmlformats-officedocument.presentationml.notesSlid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notesSlides/notesSlide12.xml" ContentType="application/vnd.openxmlformats-officedocument.presentationml.notesSlid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notesSlides/notesSlide13.xml" ContentType="application/vnd.openxmlformats-officedocument.presentationml.notesSlid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notesSlides/notesSlide14.xml" ContentType="application/vnd.openxmlformats-officedocument.presentationml.notesSlid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notesSlides/notesSlide15.xml" ContentType="application/vnd.openxmlformats-officedocument.presentationml.notesSlid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notesSlides/notesSlide16.xml" ContentType="application/vnd.openxmlformats-officedocument.presentationml.notesSlid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notesSlides/notesSlide17.xml" ContentType="application/vnd.openxmlformats-officedocument.presentationml.notesSlid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notesSlides/notesSlide18.xml" ContentType="application/vnd.openxmlformats-officedocument.presentationml.notesSlid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notesSlides/notesSlide19.xml" ContentType="application/vnd.openxmlformats-officedocument.presentationml.notesSlid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notesSlides/notesSlide20.xml" ContentType="application/vnd.openxmlformats-officedocument.presentationml.notesSlid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notesSlides/notesSlide21.xml" ContentType="application/vnd.openxmlformats-officedocument.presentationml.notesSlid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notesSlides/notesSlide22.xml" ContentType="application/vnd.openxmlformats-officedocument.presentationml.notesSlid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8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rts/chart79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charts/chart80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charts/chart81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notesMasterIdLst>
    <p:notesMasterId r:id="rId100"/>
  </p:notesMasterIdLst>
  <p:sldIdLst>
    <p:sldId id="338" r:id="rId2"/>
    <p:sldId id="588" r:id="rId3"/>
    <p:sldId id="722" r:id="rId4"/>
    <p:sldId id="724" r:id="rId5"/>
    <p:sldId id="725" r:id="rId6"/>
    <p:sldId id="726" r:id="rId7"/>
    <p:sldId id="727" r:id="rId8"/>
    <p:sldId id="728" r:id="rId9"/>
    <p:sldId id="729" r:id="rId10"/>
    <p:sldId id="730" r:id="rId11"/>
    <p:sldId id="731" r:id="rId12"/>
    <p:sldId id="732" r:id="rId13"/>
    <p:sldId id="733" r:id="rId14"/>
    <p:sldId id="721" r:id="rId15"/>
    <p:sldId id="723" r:id="rId16"/>
    <p:sldId id="734" r:id="rId17"/>
    <p:sldId id="590" r:id="rId18"/>
    <p:sldId id="646" r:id="rId19"/>
    <p:sldId id="647" r:id="rId20"/>
    <p:sldId id="735" r:id="rId21"/>
    <p:sldId id="737" r:id="rId22"/>
    <p:sldId id="736" r:id="rId23"/>
    <p:sldId id="738" r:id="rId24"/>
    <p:sldId id="596" r:id="rId25"/>
    <p:sldId id="598" r:id="rId26"/>
    <p:sldId id="739" r:id="rId27"/>
    <p:sldId id="740" r:id="rId28"/>
    <p:sldId id="741" r:id="rId29"/>
    <p:sldId id="742" r:id="rId30"/>
    <p:sldId id="743" r:id="rId31"/>
    <p:sldId id="744" r:id="rId32"/>
    <p:sldId id="745" r:id="rId33"/>
    <p:sldId id="746" r:id="rId34"/>
    <p:sldId id="747" r:id="rId35"/>
    <p:sldId id="748" r:id="rId36"/>
    <p:sldId id="710" r:id="rId37"/>
    <p:sldId id="712" r:id="rId38"/>
    <p:sldId id="714" r:id="rId39"/>
    <p:sldId id="716" r:id="rId40"/>
    <p:sldId id="749" r:id="rId41"/>
    <p:sldId id="750" r:id="rId42"/>
    <p:sldId id="753" r:id="rId43"/>
    <p:sldId id="754" r:id="rId44"/>
    <p:sldId id="698" r:id="rId45"/>
    <p:sldId id="752" r:id="rId46"/>
    <p:sldId id="694" r:id="rId47"/>
    <p:sldId id="751" r:id="rId48"/>
    <p:sldId id="755" r:id="rId49"/>
    <p:sldId id="756" r:id="rId50"/>
    <p:sldId id="757" r:id="rId51"/>
    <p:sldId id="758" r:id="rId52"/>
    <p:sldId id="759" r:id="rId53"/>
    <p:sldId id="760" r:id="rId54"/>
    <p:sldId id="761" r:id="rId55"/>
    <p:sldId id="762" r:id="rId56"/>
    <p:sldId id="763" r:id="rId57"/>
    <p:sldId id="764" r:id="rId58"/>
    <p:sldId id="765" r:id="rId59"/>
    <p:sldId id="766" r:id="rId60"/>
    <p:sldId id="767" r:id="rId61"/>
    <p:sldId id="768" r:id="rId62"/>
    <p:sldId id="769" r:id="rId63"/>
    <p:sldId id="770" r:id="rId64"/>
    <p:sldId id="771" r:id="rId65"/>
    <p:sldId id="772" r:id="rId66"/>
    <p:sldId id="773" r:id="rId67"/>
    <p:sldId id="774" r:id="rId68"/>
    <p:sldId id="775" r:id="rId69"/>
    <p:sldId id="776" r:id="rId70"/>
    <p:sldId id="777" r:id="rId71"/>
    <p:sldId id="778" r:id="rId72"/>
    <p:sldId id="779" r:id="rId73"/>
    <p:sldId id="780" r:id="rId74"/>
    <p:sldId id="781" r:id="rId75"/>
    <p:sldId id="782" r:id="rId76"/>
    <p:sldId id="783" r:id="rId77"/>
    <p:sldId id="784" r:id="rId78"/>
    <p:sldId id="785" r:id="rId79"/>
    <p:sldId id="786" r:id="rId80"/>
    <p:sldId id="787" r:id="rId81"/>
    <p:sldId id="788" r:id="rId82"/>
    <p:sldId id="790" r:id="rId83"/>
    <p:sldId id="789" r:id="rId84"/>
    <p:sldId id="531" r:id="rId85"/>
    <p:sldId id="791" r:id="rId86"/>
    <p:sldId id="792" r:id="rId87"/>
    <p:sldId id="793" r:id="rId88"/>
    <p:sldId id="794" r:id="rId89"/>
    <p:sldId id="795" r:id="rId90"/>
    <p:sldId id="796" r:id="rId91"/>
    <p:sldId id="797" r:id="rId92"/>
    <p:sldId id="798" r:id="rId93"/>
    <p:sldId id="799" r:id="rId94"/>
    <p:sldId id="800" r:id="rId95"/>
    <p:sldId id="801" r:id="rId96"/>
    <p:sldId id="802" r:id="rId97"/>
    <p:sldId id="803" r:id="rId98"/>
    <p:sldId id="385" r:id="rId99"/>
  </p:sldIdLst>
  <p:sldSz cx="9144000" cy="6858000" type="screen4x3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EC1FD3E-DC81-42CB-A2BE-9540FE1DC9C6}">
          <p14:sldIdLst>
            <p14:sldId id="338"/>
            <p14:sldId id="588"/>
            <p14:sldId id="722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21"/>
            <p14:sldId id="723"/>
            <p14:sldId id="734"/>
            <p14:sldId id="590"/>
            <p14:sldId id="646"/>
          </p14:sldIdLst>
        </p14:section>
        <p14:section name="Раздел без заголовка" id="{D81A5786-35CD-481F-A7CA-829479C0318A}">
          <p14:sldIdLst>
            <p14:sldId id="647"/>
            <p14:sldId id="735"/>
            <p14:sldId id="737"/>
            <p14:sldId id="736"/>
            <p14:sldId id="738"/>
            <p14:sldId id="596"/>
            <p14:sldId id="59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10"/>
            <p14:sldId id="712"/>
            <p14:sldId id="714"/>
            <p14:sldId id="716"/>
            <p14:sldId id="749"/>
            <p14:sldId id="750"/>
            <p14:sldId id="753"/>
            <p14:sldId id="754"/>
            <p14:sldId id="698"/>
            <p14:sldId id="752"/>
            <p14:sldId id="694"/>
            <p14:sldId id="751"/>
            <p14:sldId id="755"/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90"/>
            <p14:sldId id="789"/>
            <p14:sldId id="531"/>
            <p14:sldId id="791"/>
            <p14:sldId id="792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  <p14:sldId id="385"/>
          </p14:sldIdLst>
        </p14:section>
        <p14:section name="Раздел без заголовка" id="{672B514B-26BB-421F-98B8-A110A1004B8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DF5"/>
    <a:srgbClr val="190CC4"/>
    <a:srgbClr val="2C69B2"/>
    <a:srgbClr val="B80000"/>
    <a:srgbClr val="9A0000"/>
    <a:srgbClr val="B40000"/>
    <a:srgbClr val="E86E0A"/>
    <a:srgbClr val="F5F7FD"/>
    <a:srgbClr val="F6F7BB"/>
    <a:srgbClr val="005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341" autoAdjust="0"/>
  </p:normalViewPr>
  <p:slideViewPr>
    <p:cSldViewPr>
      <p:cViewPr varScale="1">
        <p:scale>
          <a:sx n="106" d="100"/>
          <a:sy n="106" d="100"/>
        </p:scale>
        <p:origin x="180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79.xml"/><Relationship Id="rId1" Type="http://schemas.microsoft.com/office/2011/relationships/chartStyle" Target="style79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9.xlsx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0.xlsx"/><Relationship Id="rId2" Type="http://schemas.microsoft.com/office/2011/relationships/chartColorStyle" Target="colors81.xml"/><Relationship Id="rId1" Type="http://schemas.microsoft.com/office/2011/relationships/chartStyle" Target="style8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474999045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Аксинья ( усл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71-4A1D-ADAC-1D26A94093A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6D-4378-87D2-7C7DA63B6D3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25.8</c:v>
                </c:pt>
                <c:pt idx="1">
                  <c:v>16.8</c:v>
                </c:pt>
                <c:pt idx="2">
                  <c:v>22</c:v>
                </c:pt>
                <c:pt idx="3">
                  <c:v>21.5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D-4378-87D2-7C7DA63B6D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Жаворонок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33</c:v>
                </c:pt>
                <c:pt idx="1">
                  <c:v>18</c:v>
                </c:pt>
                <c:pt idx="2">
                  <c:v>22.2</c:v>
                </c:pt>
                <c:pt idx="3">
                  <c:v>24.4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D-4378-87D2-7C7DA63B6D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Аксинья (усл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71-4A1D-ADAC-1D26A94093A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6D-4378-87D2-7C7DA63B6D3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32.5</c:v>
                </c:pt>
                <c:pt idx="1">
                  <c:v>19.149999999999999</c:v>
                </c:pt>
                <c:pt idx="2">
                  <c:v>35.9</c:v>
                </c:pt>
                <c:pt idx="3">
                  <c:v>29.2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D-4378-87D2-7C7DA63B6D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Жаворонок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44.1</c:v>
                </c:pt>
                <c:pt idx="1">
                  <c:v>23.6</c:v>
                </c:pt>
                <c:pt idx="2">
                  <c:v>42.5</c:v>
                </c:pt>
                <c:pt idx="3">
                  <c:v>36.700000000000003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D-4378-87D2-7C7DA63B6D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Аксинья (усл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590-4D70-BE4F-E0B0DD09C09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90-4D70-BE4F-E0B0DD09C09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33.9</c:v>
                </c:pt>
                <c:pt idx="1">
                  <c:v>14.5</c:v>
                </c:pt>
                <c:pt idx="2">
                  <c:v>42.2</c:v>
                </c:pt>
                <c:pt idx="3">
                  <c:v>30.2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90-4D70-BE4F-E0B0DD09C09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Жаворонок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37.4</c:v>
                </c:pt>
                <c:pt idx="1">
                  <c:v>19.2</c:v>
                </c:pt>
                <c:pt idx="2">
                  <c:v>55.7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90-4D70-BE4F-E0B0DD09C0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Аксинья (усл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989-4DB1-B3ED-C432E66DEE82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DB1-B3ED-C432E66DEE82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41.1</c:v>
                </c:pt>
                <c:pt idx="1">
                  <c:v>23.6</c:v>
                </c:pt>
                <c:pt idx="2">
                  <c:v>45.9</c:v>
                </c:pt>
                <c:pt idx="3">
                  <c:v>36.9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89-4DB1-B3ED-C432E66DEE8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Жаворонок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48.7</c:v>
                </c:pt>
                <c:pt idx="1">
                  <c:v>49.6</c:v>
                </c:pt>
                <c:pt idx="2">
                  <c:v>50.7</c:v>
                </c:pt>
                <c:pt idx="3">
                  <c:v>37.4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989-4DB1-B3ED-C432E66DEE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Шөл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71-4A1D-ADAC-1D26A94093A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6D-4378-87D2-7C7DA63B6D3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18.399999999999999</c:v>
                </c:pt>
                <c:pt idx="1">
                  <c:v>20.399999999999999</c:v>
                </c:pt>
                <c:pt idx="2">
                  <c:v>34.1</c:v>
                </c:pt>
                <c:pt idx="3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D-4378-87D2-7C7DA63B6D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Жаворонок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21.9</c:v>
                </c:pt>
                <c:pt idx="1">
                  <c:v>20</c:v>
                </c:pt>
                <c:pt idx="2">
                  <c:v>36.799999999999997</c:v>
                </c:pt>
                <c:pt idx="3">
                  <c:v>26.2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D-4378-87D2-7C7DA63B6D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Шөл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989-4DB1-B3ED-C432E66DEE82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DB1-B3ED-C432E66DEE82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19.899999999999999</c:v>
                </c:pt>
                <c:pt idx="1">
                  <c:v>33.1</c:v>
                </c:pt>
                <c:pt idx="2">
                  <c:v>27.8</c:v>
                </c:pt>
                <c:pt idx="3">
                  <c:v>26.9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89-4DB1-B3ED-C432E66DEE8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Жаворонок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30.4</c:v>
                </c:pt>
                <c:pt idx="1">
                  <c:v>42.8</c:v>
                </c:pt>
                <c:pt idx="2">
                  <c:v>25.8</c:v>
                </c:pt>
                <c:pt idx="3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989-4DB1-B3ED-C432E66DEE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Даулет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71-4A1D-ADAC-1D26A94093A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6D-4378-87D2-7C7DA63B6D3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38.9</c:v>
                </c:pt>
                <c:pt idx="1">
                  <c:v>19.399999999999999</c:v>
                </c:pt>
                <c:pt idx="2">
                  <c:v>32.1</c:v>
                </c:pt>
                <c:pt idx="3">
                  <c:v>30.1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D-4378-87D2-7C7DA63B6D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Шеф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41.9</c:v>
                </c:pt>
                <c:pt idx="1">
                  <c:v>19</c:v>
                </c:pt>
                <c:pt idx="2">
                  <c:v>34.700000000000003</c:v>
                </c:pt>
                <c:pt idx="3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D-4378-87D2-7C7DA63B6D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Даулет 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E590-4D70-BE4F-E0B0DD09C09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90-4D70-BE4F-E0B0DD09C09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31.1</c:v>
                </c:pt>
                <c:pt idx="1">
                  <c:v>19.899999999999999</c:v>
                </c:pt>
                <c:pt idx="2">
                  <c:v>33.200000000000003</c:v>
                </c:pt>
                <c:pt idx="3">
                  <c:v>28.1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90-4D70-BE4F-E0B0DD09C09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Шеф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36</c:v>
                </c:pt>
                <c:pt idx="1">
                  <c:v>20.399999999999999</c:v>
                </c:pt>
                <c:pt idx="2">
                  <c:v>41</c:v>
                </c:pt>
                <c:pt idx="3">
                  <c:v>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90-4D70-BE4F-E0B0DD09C0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Даулет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989-4DB1-B3ED-C432E66DEE82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DB1-B3ED-C432E66DEE82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51.9</c:v>
                </c:pt>
                <c:pt idx="1">
                  <c:v>56.2</c:v>
                </c:pt>
                <c:pt idx="2">
                  <c:v>39.9</c:v>
                </c:pt>
                <c:pt idx="3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89-4DB1-B3ED-C432E66DEE8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Шеф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54.2</c:v>
                </c:pt>
                <c:pt idx="1">
                  <c:v>51.6</c:v>
                </c:pt>
                <c:pt idx="2">
                  <c:v>53.5</c:v>
                </c:pt>
                <c:pt idx="3">
                  <c:v>53.1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989-4DB1-B3ED-C432E66DEE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Алия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71-4A1D-ADAC-1D26A94093A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6D-4378-87D2-7C7DA63B6D3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33.200000000000003</c:v>
                </c:pt>
                <c:pt idx="1">
                  <c:v>16.3</c:v>
                </c:pt>
                <c:pt idx="2">
                  <c:v>30.5</c:v>
                </c:pt>
                <c:pt idx="3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D-4378-87D2-7C7DA63B6D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Санжара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31.2</c:v>
                </c:pt>
                <c:pt idx="1">
                  <c:v>25.4</c:v>
                </c:pt>
                <c:pt idx="2">
                  <c:v>29.8</c:v>
                </c:pt>
                <c:pt idx="3">
                  <c:v>28.8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D-4378-87D2-7C7DA63B6D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Даулет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380-4CFA-B546-F760C5A66304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80-4CFA-B546-F760C5A66304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38.9</c:v>
                </c:pt>
                <c:pt idx="1">
                  <c:v>19.399999999999999</c:v>
                </c:pt>
                <c:pt idx="2">
                  <c:v>32.1</c:v>
                </c:pt>
                <c:pt idx="3">
                  <c:v>30.4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80-4CFA-B546-F760C5A6630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Краса Дона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41.4</c:v>
                </c:pt>
                <c:pt idx="1">
                  <c:v>19.899999999999999</c:v>
                </c:pt>
                <c:pt idx="2">
                  <c:v>42.1</c:v>
                </c:pt>
                <c:pt idx="3">
                  <c:v>34.4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80-4CFA-B546-F760C5A663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Даулет (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44AA-4075-A98D-03D06133D0B9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AA-4075-A98D-03D06133D0B9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31.1</c:v>
                </c:pt>
                <c:pt idx="1">
                  <c:v>19.899999999999999</c:v>
                </c:pt>
                <c:pt idx="2">
                  <c:v>33.200000000000003</c:v>
                </c:pt>
                <c:pt idx="3">
                  <c:v>28.1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AA-4075-A98D-03D06133D0B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Краса Дона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34.5</c:v>
                </c:pt>
                <c:pt idx="1">
                  <c:v>16.7</c:v>
                </c:pt>
                <c:pt idx="2">
                  <c:v>48.3</c:v>
                </c:pt>
                <c:pt idx="3">
                  <c:v>33.200000000000003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4AA-4075-A98D-03D06133D0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Бригада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71-4A1D-ADAC-1D26A94093A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6D-4378-87D2-7C7DA63B6D3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20.399999999999999</c:v>
                </c:pt>
                <c:pt idx="1">
                  <c:v>21.2</c:v>
                </c:pt>
                <c:pt idx="2">
                  <c:v>40.700000000000003</c:v>
                </c:pt>
                <c:pt idx="3">
                  <c:v>27.4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D-4378-87D2-7C7DA63B6D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Несіпхан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28.1</c:v>
                </c:pt>
                <c:pt idx="1">
                  <c:v>25.1</c:v>
                </c:pt>
                <c:pt idx="2">
                  <c:v>40.1</c:v>
                </c:pt>
                <c:pt idx="3">
                  <c:v>31.1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D-4378-87D2-7C7DA63B6D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Бригада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10F-4065-84C1-9380D1E8E18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0F-4065-84C1-9380D1E8E18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26.8</c:v>
                </c:pt>
                <c:pt idx="1">
                  <c:v>39</c:v>
                </c:pt>
                <c:pt idx="2">
                  <c:v>18.7</c:v>
                </c:pt>
                <c:pt idx="3">
                  <c:v>28.2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0F-4065-84C1-9380D1E8E18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Несіпхан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 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22.6</c:v>
                </c:pt>
                <c:pt idx="1">
                  <c:v>43.5</c:v>
                </c:pt>
                <c:pt idx="2">
                  <c:v>22.6</c:v>
                </c:pt>
                <c:pt idx="3">
                  <c:v>29.6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0F-4065-84C1-9380D1E8E1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Белоглинка (усл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FB71-4A1D-ADAC-1D26A94093AA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6D-4378-87D2-7C7DA63B6D3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 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3.3</c:v>
                </c:pt>
                <c:pt idx="1">
                  <c:v>12.3</c:v>
                </c:pt>
                <c:pt idx="2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6D-4378-87D2-7C7DA63B6D3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Прииртышская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 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4</c:v>
                </c:pt>
                <c:pt idx="1">
                  <c:v>12.8</c:v>
                </c:pt>
                <c:pt idx="2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6D-4378-87D2-7C7DA63B6D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526452500095502E-2"/>
          <c:y val="0.18749344978165941"/>
          <c:w val="0.90747355365871452"/>
          <c:h val="0.51812074439521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Собербаш (усл 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spPr>
                <a:solidFill>
                  <a:schemeClr val="bg1"/>
                </a:solidFill>
                <a:ln w="25400" cap="flat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dk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K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3449-4D55-8C6D-FCE5A96021C7}"/>
                </c:ext>
              </c:extLst>
            </c:dLbl>
            <c:dLbl>
              <c:idx val="3"/>
              <c:layout>
                <c:manualLayout>
                  <c:x val="-2.6418199684978571E-3"/>
                  <c:y val="-1.286560173702503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49-4D55-8C6D-FCE5A96021C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 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3.6</c:v>
                </c:pt>
                <c:pt idx="1">
                  <c:v>13.3</c:v>
                </c:pt>
                <c:pt idx="2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49-4D55-8C6D-FCE5A96021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Сварог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 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5.7</c:v>
                </c:pt>
                <c:pt idx="1">
                  <c:v>13.7</c:v>
                </c:pt>
                <c:pt idx="2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49-4D55-8C6D-FCE5A96021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13760"/>
        <c:axId val="46227840"/>
      </c:barChart>
      <c:catAx>
        <c:axId val="462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6227840"/>
        <c:crosses val="autoZero"/>
        <c:auto val="1"/>
        <c:lblAlgn val="ctr"/>
        <c:lblOffset val="100"/>
        <c:noMultiLvlLbl val="0"/>
      </c:catAx>
      <c:valAx>
        <c:axId val="4622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62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8089026282425562E-2"/>
          <c:y val="0.86833141866698915"/>
          <c:w val="0.9092725175940729"/>
          <c:h val="0.131668581333010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көпжылдық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шөп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многолетная</a:t>
            </a:r>
            <a:r>
              <a:rPr lang="ru-RU" sz="14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трава 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236205489037018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Гранни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16.600000000000001</c:v>
                </c:pt>
                <c:pt idx="1">
                  <c:v>16.2</c:v>
                </c:pt>
                <c:pt idx="2">
                  <c:v>17.100000000000001</c:v>
                </c:pt>
                <c:pt idx="3">
                  <c:v>16.600000000000001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Костанай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22.7</c:v>
                </c:pt>
                <c:pt idx="1">
                  <c:v>18.7</c:v>
                </c:pt>
                <c:pt idx="2">
                  <c:v>13</c:v>
                </c:pt>
                <c:pt idx="3">
                  <c:v>18.100000000000001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2842329881171888"/>
          <c:y val="0.18802355639920573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8441087392749581"/>
          <c:y val="4.219695236366714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638932368149E-2"/>
          <c:y val="0.29687986219249224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Гранни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21.7</c:v>
                </c:pt>
                <c:pt idx="1">
                  <c:v>12.4</c:v>
                </c:pt>
                <c:pt idx="2">
                  <c:v>19.100000000000001</c:v>
                </c:pt>
                <c:pt idx="3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FC3-B25C-6014C7FF36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Костанай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52-4FC3-B25C-6014C7FF36CA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752-4FC3-B25C-6014C7FF36CA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52-4FC3-B25C-6014C7FF36CA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752-4FC3-B25C-6014C7FF36CA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52-4FC3-B25C-6014C7FF36C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26</c:v>
                </c:pt>
                <c:pt idx="1">
                  <c:v>12.9</c:v>
                </c:pt>
                <c:pt idx="2">
                  <c:v>19.899999999999999</c:v>
                </c:pt>
                <c:pt idx="3">
                  <c:v>19.600000000000001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52-4FC3-B25C-6014C7FF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5135380838717785"/>
          <c:y val="0.18647066559419645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050979386868847"/>
          <c:y val="3.274572370141758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Гранни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15.6</c:v>
                </c:pt>
                <c:pt idx="1">
                  <c:v>11.4</c:v>
                </c:pt>
                <c:pt idx="2">
                  <c:v>15.9</c:v>
                </c:pt>
                <c:pt idx="3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0F-487B-A6BC-FEA49FF3DEC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Костанай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0F-487B-A6BC-FEA49FF3DEC3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30F-487B-A6BC-FEA49FF3DEC3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0F-487B-A6BC-FEA49FF3DEC3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0F-487B-A6BC-FEA49FF3DEC3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0F-487B-A6BC-FEA49FF3DEC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19.2</c:v>
                </c:pt>
                <c:pt idx="1">
                  <c:v>13.8</c:v>
                </c:pt>
                <c:pt idx="2">
                  <c:v>17.399999999999999</c:v>
                </c:pt>
                <c:pt idx="3">
                  <c:v>16.8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0F-487B-A6BC-FEA49FF3D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8.3977458313668638E-2"/>
          <c:y val="0.2067899455892927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236205489037018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Гранни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0.8</c:v>
                </c:pt>
                <c:pt idx="1">
                  <c:v>2.2999999999999998</c:v>
                </c:pt>
                <c:pt idx="2">
                  <c:v>2.2999999999999998</c:v>
                </c:pt>
                <c:pt idx="3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Костанай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0.9</c:v>
                </c:pt>
                <c:pt idx="1">
                  <c:v>2.9</c:v>
                </c:pt>
                <c:pt idx="2">
                  <c:v>3</c:v>
                </c:pt>
                <c:pt idx="3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2842329881171888"/>
          <c:y val="0.18802355639920573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8441087392749581"/>
          <c:y val="4.219695236366714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638932368149E-2"/>
          <c:y val="0.29687986219249224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Гранни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5.6</c:v>
                </c:pt>
                <c:pt idx="1">
                  <c:v>6.1</c:v>
                </c:pt>
                <c:pt idx="2">
                  <c:v>4</c:v>
                </c:pt>
                <c:pt idx="3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FC3-B25C-6014C7FF36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Костанай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52-4FC3-B25C-6014C7FF36CA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752-4FC3-B25C-6014C7FF36CA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52-4FC3-B25C-6014C7FF36CA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752-4FC3-B25C-6014C7FF36CA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52-4FC3-B25C-6014C7FF36C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7.5</c:v>
                </c:pt>
                <c:pt idx="1">
                  <c:v>7.5</c:v>
                </c:pt>
                <c:pt idx="2">
                  <c:v>5.3</c:v>
                </c:pt>
                <c:pt idx="3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52-4FC3-B25C-6014C7FF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5135380838717785"/>
          <c:y val="0.18647066559419645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көпжылдық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шөп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многолетная</a:t>
            </a:r>
            <a:r>
              <a:rPr lang="ru-RU" sz="14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трава 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236205489037018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Гадис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9.6</c:v>
                </c:pt>
                <c:pt idx="1">
                  <c:v>16.3</c:v>
                </c:pt>
                <c:pt idx="2">
                  <c:v>10.8</c:v>
                </c:pt>
                <c:pt idx="3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Континенталь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12.5</c:v>
                </c:pt>
                <c:pt idx="1">
                  <c:v>18.3</c:v>
                </c:pt>
                <c:pt idx="2">
                  <c:v>18.100000000000001</c:v>
                </c:pt>
                <c:pt idx="3">
                  <c:v>16.3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2842329881171888"/>
          <c:y val="0.18802355639920573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8441087392749581"/>
          <c:y val="4.219695236366714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638932368149E-2"/>
          <c:y val="0.29687986219249224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Гадис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19.2</c:v>
                </c:pt>
                <c:pt idx="1">
                  <c:v>11.7</c:v>
                </c:pt>
                <c:pt idx="2">
                  <c:v>19.3</c:v>
                </c:pt>
                <c:pt idx="3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FC3-B25C-6014C7FF36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Континенталь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52-4FC3-B25C-6014C7FF36CA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752-4FC3-B25C-6014C7FF36CA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52-4FC3-B25C-6014C7FF36CA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752-4FC3-B25C-6014C7FF36CA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52-4FC3-B25C-6014C7FF36C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</c:v>
                </c:pt>
                <c:pt idx="1">
                  <c:v>13.4</c:v>
                </c:pt>
                <c:pt idx="2">
                  <c:v>22.7</c:v>
                </c:pt>
                <c:pt idx="3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52-4FC3-B25C-6014C7FF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5135380838717785"/>
          <c:y val="0.18647066559419645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050979386868847"/>
          <c:y val="3.274572370141758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Гадис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13.4</c:v>
                </c:pt>
                <c:pt idx="1">
                  <c:v>12</c:v>
                </c:pt>
                <c:pt idx="2">
                  <c:v>14.3</c:v>
                </c:pt>
                <c:pt idx="3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0F-487B-A6BC-FEA49FF3DEC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Континенталь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0F-487B-A6BC-FEA49FF3DEC3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30F-487B-A6BC-FEA49FF3DEC3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0F-487B-A6BC-FEA49FF3DEC3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0F-487B-A6BC-FEA49FF3DEC3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0F-487B-A6BC-FEA49FF3DEC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15.9</c:v>
                </c:pt>
                <c:pt idx="1">
                  <c:v>13.5</c:v>
                </c:pt>
                <c:pt idx="2">
                  <c:v>18.100000000000001</c:v>
                </c:pt>
                <c:pt idx="3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0F-487B-A6BC-FEA49FF3D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8.3977458313668638E-2"/>
          <c:y val="0.2067899455892927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8441087392749581"/>
          <c:y val="2.277633184594352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638932368149E-2"/>
          <c:y val="0.29687986219249224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Гадис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7.6</c:v>
                </c:pt>
                <c:pt idx="1">
                  <c:v>3.1</c:v>
                </c:pt>
                <c:pt idx="2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FC3-B25C-6014C7FF36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Континенталь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52-4FC3-B25C-6014C7FF36CA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752-4FC3-B25C-6014C7FF36CA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52-4FC3-B25C-6014C7FF36CA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752-4FC3-B25C-6014C7FF36CA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52-4FC3-B25C-6014C7FF36C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6.9</c:v>
                </c:pt>
                <c:pt idx="1">
                  <c:v>4.0999999999999996</c:v>
                </c:pt>
                <c:pt idx="2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52-4FC3-B25C-6014C7FF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5135380838717785"/>
          <c:y val="0.17093411953965337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050979386868847"/>
          <c:y val="3.274572370141758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Гадис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2.1</c:v>
                </c:pt>
                <c:pt idx="1">
                  <c:v>2.5</c:v>
                </c:pt>
                <c:pt idx="2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0F-487B-A6BC-FEA49FF3DEC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Континенталь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0F-487B-A6BC-FEA49FF3DEC3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30F-487B-A6BC-FEA49FF3DEC3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0F-487B-A6BC-FEA49FF3DEC3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0F-487B-A6BC-FEA49FF3DEC3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0F-487B-A6BC-FEA49FF3DEC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4</c:v>
                </c:pt>
                <c:pt idx="1">
                  <c:v>2.6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0F-487B-A6BC-FEA49FF3D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8.3977458313668638E-2"/>
          <c:y val="0.2067899455892927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8441087392749581"/>
          <c:y val="2.277633184594352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638932368149E-2"/>
          <c:y val="0.29687986219249224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Зауральская волна(ст.)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24.7</c:v>
                </c:pt>
                <c:pt idx="1">
                  <c:v>16.399999999999999</c:v>
                </c:pt>
                <c:pt idx="2">
                  <c:v>14.2</c:v>
                </c:pt>
                <c:pt idx="3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FC3-B25C-6014C7FF36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Гренада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52-4FC3-B25C-6014C7FF36CA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752-4FC3-B25C-6014C7FF36CA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52-4FC3-B25C-6014C7FF36CA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752-4FC3-B25C-6014C7FF36CA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52-4FC3-B25C-6014C7FF36C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24.9</c:v>
                </c:pt>
                <c:pt idx="1">
                  <c:v>17.5</c:v>
                </c:pt>
                <c:pt idx="2">
                  <c:v>16.600000000000001</c:v>
                </c:pt>
                <c:pt idx="3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52-4FC3-B25C-6014C7FF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5135380838717785"/>
          <c:y val="0.17093411953965337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050979386868847"/>
          <c:y val="3.274572370141758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Зауральская волна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16.8</c:v>
                </c:pt>
                <c:pt idx="1">
                  <c:v>10</c:v>
                </c:pt>
                <c:pt idx="2">
                  <c:v>9.9</c:v>
                </c:pt>
                <c:pt idx="3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0F-487B-A6BC-FEA49FF3DEC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Гренада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0F-487B-A6BC-FEA49FF3DEC3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30F-487B-A6BC-FEA49FF3DEC3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0F-487B-A6BC-FEA49FF3DEC3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0F-487B-A6BC-FEA49FF3DEC3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0F-487B-A6BC-FEA49FF3DEC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16.100000000000001</c:v>
                </c:pt>
                <c:pt idx="1">
                  <c:v>9.3000000000000007</c:v>
                </c:pt>
                <c:pt idx="2">
                  <c:v>11.7</c:v>
                </c:pt>
                <c:pt idx="3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0F-487B-A6BC-FEA49FF3D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8.3977458313668638E-2"/>
          <c:y val="0.2067899455892927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8441087392749581"/>
          <c:y val="2.277633184594352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638932368149E-2"/>
          <c:y val="0.29687986219249224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Континенталь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20.7</c:v>
                </c:pt>
                <c:pt idx="1">
                  <c:v>11.7</c:v>
                </c:pt>
                <c:pt idx="2">
                  <c:v>21.8</c:v>
                </c:pt>
                <c:pt idx="3">
                  <c:v>18.100000000000001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FC3-B25C-6014C7FF36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Гренада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52-4FC3-B25C-6014C7FF36CA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752-4FC3-B25C-6014C7FF36CA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52-4FC3-B25C-6014C7FF36CA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752-4FC3-B25C-6014C7FF36CA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52-4FC3-B25C-6014C7FF36C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19.8</c:v>
                </c:pt>
                <c:pt idx="1">
                  <c:v>13.1</c:v>
                </c:pt>
                <c:pt idx="2">
                  <c:v>21.5</c:v>
                </c:pt>
                <c:pt idx="3">
                  <c:v>18.100000000000001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52-4FC3-B25C-6014C7FF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5135380838717785"/>
          <c:y val="0.17093411953965337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050979386868847"/>
          <c:y val="3.274572370141758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Континенталь 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14.4</c:v>
                </c:pt>
                <c:pt idx="1">
                  <c:v>10.7</c:v>
                </c:pt>
                <c:pt idx="2">
                  <c:v>12.8</c:v>
                </c:pt>
                <c:pt idx="3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0F-487B-A6BC-FEA49FF3DEC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Гренада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0F-487B-A6BC-FEA49FF3DEC3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30F-487B-A6BC-FEA49FF3DEC3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0F-487B-A6BC-FEA49FF3DEC3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0F-487B-A6BC-FEA49FF3DEC3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0F-487B-A6BC-FEA49FF3DEC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13.8</c:v>
                </c:pt>
                <c:pt idx="1">
                  <c:v>12.1</c:v>
                </c:pt>
                <c:pt idx="2">
                  <c:v>12.2</c:v>
                </c:pt>
                <c:pt idx="3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0F-487B-A6BC-FEA49FF3D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8.3977374358435608E-2"/>
          <c:y val="0.18427027856118833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1097006246617758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824854079649295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Красноуральская ст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2022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 formatCode="0.0">
                  <c:v>11.7</c:v>
                </c:pt>
                <c:pt idx="1">
                  <c:v>3.1</c:v>
                </c:pt>
                <c:pt idx="2" formatCode="0.0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9-4846-8C84-018F9DA51D3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Курьер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2022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12.9</c:v>
                </c:pt>
                <c:pt idx="1">
                  <c:v>3.1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AB-4C94-93BE-A429B3ED0D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8935673814020668E-2"/>
          <c:y val="0.90988548532338953"/>
          <c:w val="0.88235379760671762"/>
          <c:h val="9.011455444004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98534123448649"/>
          <c:y val="9.1272711723045536E-3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824854079649295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Красноуральская ст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2022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 formatCode="0.0">
                  <c:v>11.7</c:v>
                </c:pt>
                <c:pt idx="1">
                  <c:v>2.5</c:v>
                </c:pt>
                <c:pt idx="2" formatCode="0.0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99-4250-B49D-1A9D0C02F7F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Курьер</c:v>
                </c:pt>
              </c:strCache>
            </c:strRef>
          </c:tx>
          <c:spPr>
            <a:solidFill>
              <a:srgbClr val="B8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2022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12.2</c:v>
                </c:pt>
                <c:pt idx="1">
                  <c:v>1.9</c:v>
                </c:pt>
                <c:pt idx="2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D-40A3-AF52-745DC1874C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6091007809168151E-2"/>
          <c:y val="0.82774000500921885"/>
          <c:w val="0.88804312961642251"/>
          <c:h val="9.011455444004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 пшеница,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0856208629148731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824854079649295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Барыс ст</c:v>
                </c:pt>
              </c:strCache>
            </c:strRef>
          </c:tx>
          <c:spPr>
            <a:solidFill>
              <a:srgbClr val="2C69B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0.0</c:formatCode>
                <c:ptCount val="4"/>
                <c:pt idx="0">
                  <c:v>16.899999999999999</c:v>
                </c:pt>
                <c:pt idx="1">
                  <c:v>11.7</c:v>
                </c:pt>
                <c:pt idx="2" formatCode="General">
                  <c:v>15</c:v>
                </c:pt>
                <c:pt idx="3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99-4250-B49D-1A9D0C02F7F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Квинтус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18.100000000000001</c:v>
                </c:pt>
                <c:pt idx="1">
                  <c:v>16.399999999999999</c:v>
                </c:pt>
                <c:pt idx="2">
                  <c:v>14.3</c:v>
                </c:pt>
                <c:pt idx="3">
                  <c:v>16.3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ED-4E52-9671-DD322CA768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8935673814020668E-2"/>
          <c:y val="0.90988548532338953"/>
          <c:w val="0.87964621314477598"/>
          <c:h val="9.01145944087126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 пшеница,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0856208629148731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824854079649295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Барыс ст</c:v>
                </c:pt>
              </c:strCache>
            </c:strRef>
          </c:tx>
          <c:spPr>
            <a:solidFill>
              <a:srgbClr val="2C69B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0.0</c:formatCode>
                <c:ptCount val="4"/>
                <c:pt idx="0">
                  <c:v>0.9</c:v>
                </c:pt>
                <c:pt idx="1">
                  <c:v>3.8</c:v>
                </c:pt>
                <c:pt idx="2" formatCode="General">
                  <c:v>2</c:v>
                </c:pt>
                <c:pt idx="3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99-4250-B49D-1A9D0C02F7F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Квинтус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0.7</c:v>
                </c:pt>
                <c:pt idx="1">
                  <c:v>4.9000000000000004</c:v>
                </c:pt>
                <c:pt idx="2">
                  <c:v>2.6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ED-4E52-9671-DD322CA768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8935673814020668E-2"/>
          <c:y val="0.90988548532338953"/>
          <c:w val="0.87964621314477598"/>
          <c:h val="9.01145944087126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0856208629148731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3765762108950239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Барыс ст</c:v>
                </c:pt>
              </c:strCache>
            </c:strRef>
          </c:tx>
          <c:spPr>
            <a:solidFill>
              <a:srgbClr val="2C69B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0.0</c:formatCode>
                <c:ptCount val="4"/>
                <c:pt idx="0">
                  <c:v>4.7</c:v>
                </c:pt>
                <c:pt idx="1">
                  <c:v>5.7</c:v>
                </c:pt>
                <c:pt idx="2" formatCode="General">
                  <c:v>4</c:v>
                </c:pt>
                <c:pt idx="3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12-4F44-9B24-0EBC7F2F48E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Квинтус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8.8000000000000007</c:v>
                </c:pt>
                <c:pt idx="1">
                  <c:v>7.4</c:v>
                </c:pt>
                <c:pt idx="2">
                  <c:v>2.9</c:v>
                </c:pt>
                <c:pt idx="3">
                  <c:v>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12-4F44-9B24-0EBC7F2F48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8935673814020668E-2"/>
          <c:y val="0.90988548532338953"/>
          <c:w val="0.87964621314477598"/>
          <c:h val="9.01145944087126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1600842409035208"/>
          <c:y val="8.644165970709209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4.9000000000000004</c:v>
                </c:pt>
                <c:pt idx="1">
                  <c:v>4.5</c:v>
                </c:pt>
                <c:pt idx="2">
                  <c:v>9.8000000000000007</c:v>
                </c:pt>
                <c:pt idx="3" formatCode="0.0">
                  <c:v>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Кудесница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7.2</c:v>
                </c:pt>
                <c:pt idx="1">
                  <c:v>4.5999999999999996</c:v>
                </c:pt>
                <c:pt idx="2">
                  <c:v>8.9</c:v>
                </c:pt>
                <c:pt idx="3" formatCode="0.0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4569095132790044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4.4000000000000004</c:v>
                </c:pt>
                <c:pt idx="1">
                  <c:v>4.2</c:v>
                </c:pt>
                <c:pt idx="2">
                  <c:v>7.7</c:v>
                </c:pt>
                <c:pt idx="3" formatCode="0.0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Кудесница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5.8</c:v>
                </c:pt>
                <c:pt idx="1">
                  <c:v>4.3</c:v>
                </c:pt>
                <c:pt idx="2">
                  <c:v>7.7</c:v>
                </c:pt>
                <c:pt idx="3" formatCode="0.0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3.7066201582716826E-2"/>
          <c:y val="0.1592611798956951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</a:t>
            </a:r>
            <a:r>
              <a:rPr lang="ru-RU" sz="1400" dirty="0"/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  <a:endParaRPr lang="ru-RU" sz="1400" dirty="0"/>
          </a:p>
        </c:rich>
      </c:tx>
      <c:layout>
        <c:manualLayout>
          <c:xMode val="edge"/>
          <c:yMode val="edge"/>
          <c:x val="0.18004616785033425"/>
          <c:y val="4.322082985354604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21.8</c:v>
                </c:pt>
                <c:pt idx="1">
                  <c:v>24.6</c:v>
                </c:pt>
                <c:pt idx="2">
                  <c:v>25.1</c:v>
                </c:pt>
                <c:pt idx="3" formatCode="0.0">
                  <c:v>23.8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Кудесница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25.1</c:v>
                </c:pt>
                <c:pt idx="1">
                  <c:v>23.6</c:v>
                </c:pt>
                <c:pt idx="2">
                  <c:v>29.2</c:v>
                </c:pt>
                <c:pt idx="3" formatCode="0.0">
                  <c:v>25.9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1.1235531934147051E-3"/>
          <c:y val="4.9827720044304941E-3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1818650417429883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18.600000000000001</c:v>
                </c:pt>
                <c:pt idx="1">
                  <c:v>21</c:v>
                </c:pt>
                <c:pt idx="2">
                  <c:v>16</c:v>
                </c:pt>
                <c:pt idx="3" formatCode="0.0">
                  <c:v>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Кудесница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19.399999999999999</c:v>
                </c:pt>
                <c:pt idx="1">
                  <c:v>20.6</c:v>
                </c:pt>
                <c:pt idx="2">
                  <c:v>15.4</c:v>
                </c:pt>
                <c:pt idx="3" formatCode="0.0">
                  <c:v>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47487157820501263"/>
          <c:y val="0.10829274719170802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204998576533851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14.4</c:v>
                </c:pt>
                <c:pt idx="1">
                  <c:v>8.3000000000000007</c:v>
                </c:pt>
                <c:pt idx="2">
                  <c:v>23</c:v>
                </c:pt>
                <c:pt idx="3" formatCode="0.0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Кудесница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17.100000000000001</c:v>
                </c:pt>
                <c:pt idx="1">
                  <c:v>8.9</c:v>
                </c:pt>
                <c:pt idx="2">
                  <c:v>22.7</c:v>
                </c:pt>
                <c:pt idx="3" formatCode="0.0">
                  <c:v>16.3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11.7</c:v>
                </c:pt>
                <c:pt idx="1">
                  <c:v>8.1</c:v>
                </c:pt>
                <c:pt idx="2">
                  <c:v>17.7</c:v>
                </c:pt>
                <c:pt idx="3" formatCode="0.0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Кудесница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13.3</c:v>
                </c:pt>
                <c:pt idx="1">
                  <c:v>8.5</c:v>
                </c:pt>
                <c:pt idx="2">
                  <c:v>18.899999999999999</c:v>
                </c:pt>
                <c:pt idx="3" formatCode="0.0">
                  <c:v>13.4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47725099863588616"/>
          <c:y val="0.12649569562441754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1600842409035208"/>
          <c:y val="8.644165970709209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19.8</c:v>
                </c:pt>
                <c:pt idx="1">
                  <c:v>13.5</c:v>
                </c:pt>
                <c:pt idx="2">
                  <c:v>17.3</c:v>
                </c:pt>
                <c:pt idx="3" formatCode="0.0">
                  <c:v>16.899999999999999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21.6</c:v>
                </c:pt>
                <c:pt idx="1">
                  <c:v>14.9</c:v>
                </c:pt>
                <c:pt idx="2">
                  <c:v>19.8</c:v>
                </c:pt>
                <c:pt idx="3" formatCode="0.0">
                  <c:v>18.8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4569095132790044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16.600000000000001</c:v>
                </c:pt>
                <c:pt idx="1">
                  <c:v>10.6</c:v>
                </c:pt>
                <c:pt idx="2">
                  <c:v>13.5</c:v>
                </c:pt>
                <c:pt idx="3" formatCode="0.0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17.600000000000001</c:v>
                </c:pt>
                <c:pt idx="1">
                  <c:v>11.1</c:v>
                </c:pt>
                <c:pt idx="2">
                  <c:v>15</c:v>
                </c:pt>
                <c:pt idx="3" formatCode="0.0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3.7066201582716826E-2"/>
          <c:y val="0.1592611798956951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</a:t>
            </a:r>
            <a:r>
              <a:rPr lang="ru-RU" sz="1400" dirty="0"/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  <a:endParaRPr lang="ru-RU" sz="1400" dirty="0"/>
          </a:p>
        </c:rich>
      </c:tx>
      <c:layout>
        <c:manualLayout>
          <c:xMode val="edge"/>
          <c:yMode val="edge"/>
          <c:x val="0.18004616785033425"/>
          <c:y val="4.322082985354604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20.2</c:v>
                </c:pt>
                <c:pt idx="1">
                  <c:v>19.8</c:v>
                </c:pt>
                <c:pt idx="2">
                  <c:v>21.5</c:v>
                </c:pt>
                <c:pt idx="3" formatCode="0.0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23.7</c:v>
                </c:pt>
                <c:pt idx="1">
                  <c:v>19.3</c:v>
                </c:pt>
                <c:pt idx="2">
                  <c:v>24.6</c:v>
                </c:pt>
                <c:pt idx="3" formatCode="0.0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1.1235531934147051E-3"/>
          <c:y val="4.9827720044304941E-3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1818650417429883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17.3</c:v>
                </c:pt>
                <c:pt idx="1">
                  <c:v>16.2</c:v>
                </c:pt>
                <c:pt idx="2">
                  <c:v>14.5</c:v>
                </c:pt>
                <c:pt idx="3" formatCode="0.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18.899999999999999</c:v>
                </c:pt>
                <c:pt idx="1">
                  <c:v>14.1</c:v>
                </c:pt>
                <c:pt idx="2">
                  <c:v>17.100000000000001</c:v>
                </c:pt>
                <c:pt idx="3" formatCode="0.0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47487157820501263"/>
          <c:y val="0.10829274719170802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204998576533851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22.6</c:v>
                </c:pt>
                <c:pt idx="1">
                  <c:v>8.4499999999999993</c:v>
                </c:pt>
                <c:pt idx="2">
                  <c:v>40.65</c:v>
                </c:pt>
                <c:pt idx="3" formatCode="0.0">
                  <c:v>23.9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28.3</c:v>
                </c:pt>
                <c:pt idx="1">
                  <c:v>20.5</c:v>
                </c:pt>
                <c:pt idx="2">
                  <c:v>34.5</c:v>
                </c:pt>
                <c:pt idx="3" formatCode="0.0">
                  <c:v>27.6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16.3</c:v>
                </c:pt>
                <c:pt idx="1">
                  <c:v>7.95</c:v>
                </c:pt>
                <c:pt idx="2">
                  <c:v>31.65</c:v>
                </c:pt>
                <c:pt idx="3" formatCode="0.0">
                  <c:v>18.600000000000001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19.2</c:v>
                </c:pt>
                <c:pt idx="1">
                  <c:v>9.85</c:v>
                </c:pt>
                <c:pt idx="2">
                  <c:v>41.15</c:v>
                </c:pt>
                <c:pt idx="3" formatCode="0.0">
                  <c:v>23.4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47725099863588616"/>
          <c:y val="0.12649569562441754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 пшеница,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3941672251470261"/>
          <c:y val="2.5981591319083803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824854079649295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Барыс ст</c:v>
                </c:pt>
              </c:strCache>
            </c:strRef>
          </c:tx>
          <c:spPr>
            <a:solidFill>
              <a:srgbClr val="2C69B2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0.0</c:formatCode>
                <c:ptCount val="4"/>
                <c:pt idx="0">
                  <c:v>18.399999999999999</c:v>
                </c:pt>
                <c:pt idx="1">
                  <c:v>8.3000000000000007</c:v>
                </c:pt>
                <c:pt idx="2" formatCode="General">
                  <c:v>14.4</c:v>
                </c:pt>
                <c:pt idx="3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99-4250-B49D-1A9D0C02F7F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22</c:v>
                </c:pt>
                <c:pt idx="1">
                  <c:v>14.6</c:v>
                </c:pt>
                <c:pt idx="2">
                  <c:v>19.5</c:v>
                </c:pt>
                <c:pt idx="3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ED-4E52-9671-DD322CA768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8935673814020668E-2"/>
          <c:y val="0.90988548532338953"/>
          <c:w val="0.87964621314477598"/>
          <c:h val="9.01145944087126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204998576533851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Барыс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32.799999999999997</c:v>
                </c:pt>
                <c:pt idx="1">
                  <c:v>15.9</c:v>
                </c:pt>
                <c:pt idx="2">
                  <c:v>29.3</c:v>
                </c:pt>
                <c:pt idx="3" formatCode="0.0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CF-495D-822A-31A7C70D2A6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CF-495D-822A-31A7C70D2A6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36</c:v>
                </c:pt>
                <c:pt idx="1">
                  <c:v>14.6</c:v>
                </c:pt>
                <c:pt idx="2">
                  <c:v>35.299999999999997</c:v>
                </c:pt>
                <c:pt idx="3" formatCode="0.0">
                  <c:v>28.6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CF-495D-822A-31A7C70D2A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204998576533851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6.85</c:v>
                </c:pt>
                <c:pt idx="1">
                  <c:v>5.2</c:v>
                </c:pt>
                <c:pt idx="2">
                  <c:v>9.6</c:v>
                </c:pt>
                <c:pt idx="3" formatCode="0.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Патриция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10.3</c:v>
                </c:pt>
                <c:pt idx="1">
                  <c:v>5.35</c:v>
                </c:pt>
                <c:pt idx="2">
                  <c:v>10.25</c:v>
                </c:pt>
                <c:pt idx="3" formatCode="0.0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5.35</c:v>
                </c:pt>
                <c:pt idx="1">
                  <c:v>4.5</c:v>
                </c:pt>
                <c:pt idx="2">
                  <c:v>7.35</c:v>
                </c:pt>
                <c:pt idx="3" formatCode="0.0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Патриция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7.05</c:v>
                </c:pt>
                <c:pt idx="1">
                  <c:v>4.8499999999999996</c:v>
                </c:pt>
                <c:pt idx="2">
                  <c:v>7.85</c:v>
                </c:pt>
                <c:pt idx="3" formatCode="0.0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45821598038493827"/>
          <c:y val="0.18293384068436838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204998576533851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13.7</c:v>
                </c:pt>
                <c:pt idx="1">
                  <c:v>11.3</c:v>
                </c:pt>
                <c:pt idx="2">
                  <c:v>18.600000000000001</c:v>
                </c:pt>
                <c:pt idx="3" formatCode="0.0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СЛБ-08-0008.008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13</c:v>
                </c:pt>
                <c:pt idx="1">
                  <c:v>8.5</c:v>
                </c:pt>
                <c:pt idx="2">
                  <c:v>26.3</c:v>
                </c:pt>
                <c:pt idx="3" formatCode="0.0">
                  <c:v>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443630838740836"/>
          <c:y val="0.12840261938648201"/>
          <c:w val="0.8627941707243803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13.5</c:v>
                </c:pt>
                <c:pt idx="1">
                  <c:v>11.9</c:v>
                </c:pt>
                <c:pt idx="2">
                  <c:v>14.05</c:v>
                </c:pt>
                <c:pt idx="3" formatCode="0.0">
                  <c:v>13.2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СЛБ-08-0008.008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12.75</c:v>
                </c:pt>
                <c:pt idx="1">
                  <c:v>7.8</c:v>
                </c:pt>
                <c:pt idx="2">
                  <c:v>23.15</c:v>
                </c:pt>
                <c:pt idx="3" formatCode="0.0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7031132933935184"/>
          <c:y val="0.15118736807021438"/>
          <c:w val="0.81607151321463056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1600842409035208"/>
          <c:y val="8.644165970709209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19.8</c:v>
                </c:pt>
                <c:pt idx="1">
                  <c:v>13.5</c:v>
                </c:pt>
                <c:pt idx="2">
                  <c:v>17.3</c:v>
                </c:pt>
                <c:pt idx="3" formatCode="0.0">
                  <c:v>16.899999999999999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СЛБ-08-0008.008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19.5</c:v>
                </c:pt>
                <c:pt idx="1">
                  <c:v>13.6</c:v>
                </c:pt>
                <c:pt idx="2">
                  <c:v>19.899999999999999</c:v>
                </c:pt>
                <c:pt idx="3" formatCode="0.0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4569095132790044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16.600000000000001</c:v>
                </c:pt>
                <c:pt idx="1">
                  <c:v>10.6</c:v>
                </c:pt>
                <c:pt idx="2">
                  <c:v>13.5</c:v>
                </c:pt>
                <c:pt idx="3" formatCode="0.0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Катунь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15.9</c:v>
                </c:pt>
                <c:pt idx="1">
                  <c:v>10.9</c:v>
                </c:pt>
                <c:pt idx="2">
                  <c:v>14.7</c:v>
                </c:pt>
                <c:pt idx="3" formatCode="0.0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3.7066201582716826E-2"/>
          <c:y val="0.1592611798956951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204998576533851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8.3000000000000007</c:v>
                </c:pt>
                <c:pt idx="1">
                  <c:v>23</c:v>
                </c:pt>
                <c:pt idx="2" formatCode="0.0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Калисперо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7.5</c:v>
                </c:pt>
                <c:pt idx="1">
                  <c:v>26.5</c:v>
                </c:pt>
                <c:pt idx="2" formatCode="0.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443630838740836"/>
          <c:y val="0.12840261938648201"/>
          <c:w val="0.8627941707243803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8.1</c:v>
                </c:pt>
                <c:pt idx="1">
                  <c:v>17.7</c:v>
                </c:pt>
                <c:pt idx="2" formatCode="0.0">
                  <c:v>12.9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Калисперо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7.3</c:v>
                </c:pt>
                <c:pt idx="1">
                  <c:v>22</c:v>
                </c:pt>
                <c:pt idx="2" formatCode="0.0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7031132933935184"/>
          <c:y val="0.15118736807021438"/>
          <c:w val="0.81607151321463056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1600842409035208"/>
          <c:y val="8.644165970709209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15.8</c:v>
                </c:pt>
                <c:pt idx="1">
                  <c:v>19.2</c:v>
                </c:pt>
                <c:pt idx="2" formatCode="0.0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Таймас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17.2</c:v>
                </c:pt>
                <c:pt idx="1">
                  <c:v>20.399999999999999</c:v>
                </c:pt>
                <c:pt idx="2" formatCode="0.0">
                  <c:v>18.8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4569095132790044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12.2</c:v>
                </c:pt>
                <c:pt idx="1">
                  <c:v>15</c:v>
                </c:pt>
                <c:pt idx="2" formatCode="0.0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Таймас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13</c:v>
                </c:pt>
                <c:pt idx="1">
                  <c:v>15.1</c:v>
                </c:pt>
                <c:pt idx="2" formatCode="0.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3.7066201582716826E-2"/>
          <c:y val="0.1592611798956951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</a:t>
            </a:r>
            <a:r>
              <a:rPr lang="ru-RU" sz="1400" dirty="0"/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  <a:endParaRPr lang="ru-RU" sz="1400" dirty="0"/>
          </a:p>
        </c:rich>
      </c:tx>
      <c:layout>
        <c:manualLayout>
          <c:xMode val="edge"/>
          <c:yMode val="edge"/>
          <c:x val="0.18004616785033425"/>
          <c:y val="4.322082985354604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23.4</c:v>
                </c:pt>
                <c:pt idx="1">
                  <c:v>20.3</c:v>
                </c:pt>
                <c:pt idx="2">
                  <c:v>20.5</c:v>
                </c:pt>
                <c:pt idx="3" formatCode="0.0">
                  <c:v>21.4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Таймас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25</c:v>
                </c:pt>
                <c:pt idx="1">
                  <c:v>18.899999999999999</c:v>
                </c:pt>
                <c:pt idx="2">
                  <c:v>23.5</c:v>
                </c:pt>
                <c:pt idx="3" formatCode="0.0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1.1235531934147051E-3"/>
          <c:y val="4.9827720044304941E-3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1818650417429883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17.7</c:v>
                </c:pt>
                <c:pt idx="1">
                  <c:v>16.100000000000001</c:v>
                </c:pt>
                <c:pt idx="2">
                  <c:v>13.5</c:v>
                </c:pt>
                <c:pt idx="3" formatCode="0.0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Таймас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средняя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17.5</c:v>
                </c:pt>
                <c:pt idx="1">
                  <c:v>15.2</c:v>
                </c:pt>
                <c:pt idx="2">
                  <c:v>14.3</c:v>
                </c:pt>
                <c:pt idx="3" formatCode="0.0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47487157820501263"/>
          <c:y val="0.10829274719170802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</a:p>
        </c:rich>
      </c:tx>
      <c:layout>
        <c:manualLayout>
          <c:xMode val="edge"/>
          <c:yMode val="edge"/>
          <c:x val="0.2049985765338510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11.3</c:v>
                </c:pt>
                <c:pt idx="1">
                  <c:v>18.600000000000001</c:v>
                </c:pt>
                <c:pt idx="2" formatCode="0.0">
                  <c:v>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Ликамеро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11</c:v>
                </c:pt>
                <c:pt idx="1">
                  <c:v>21.5</c:v>
                </c:pt>
                <c:pt idx="2" formatCode="0.0">
                  <c:v>16.2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3443630838740836"/>
          <c:y val="0.12840261938648201"/>
          <c:w val="0.8627941707243803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150681279415522"/>
          <c:y val="1.9545199025234009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8735817031573258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Таймас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11.9</c:v>
                </c:pt>
                <c:pt idx="1">
                  <c:v>14</c:v>
                </c:pt>
                <c:pt idx="2" formatCode="0.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Ликамеро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7.6</c:v>
                </c:pt>
                <c:pt idx="1">
                  <c:v>19.399999999999999</c:v>
                </c:pt>
                <c:pt idx="2" formatCode="0.0">
                  <c:v>13.5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7031132933935184"/>
          <c:y val="0.15118736807021438"/>
          <c:w val="0.81607151321463056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Предшественник</a:t>
            </a:r>
            <a:r>
              <a:rPr lang="ru-RU" sz="1400" dirty="0"/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</a:t>
            </a:r>
            <a:r>
              <a:rPr lang="ru-RU" sz="1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пар, ц/га</a:t>
            </a:r>
            <a:endParaRPr lang="ru-RU" sz="1400" dirty="0"/>
          </a:p>
        </c:rich>
      </c:tx>
      <c:layout>
        <c:manualLayout>
          <c:xMode val="edge"/>
          <c:yMode val="edge"/>
          <c:x val="0.18004616785033425"/>
          <c:y val="4.322082985354604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555858668567022"/>
          <c:w val="1"/>
          <c:h val="0.545987983928657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21.5</c:v>
                </c:pt>
                <c:pt idx="1">
                  <c:v>21.8</c:v>
                </c:pt>
                <c:pt idx="2" formatCode="0.0">
                  <c:v>21.7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F-44AE-AC1B-B040462000D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Ликамеро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8F-44AE-AC1B-B040462000DC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21.8</c:v>
                </c:pt>
                <c:pt idx="1">
                  <c:v>23.6</c:v>
                </c:pt>
                <c:pt idx="2" formatCode="0.0">
                  <c:v>22.7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8F-44AE-AC1B-B04046200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312320"/>
        <c:axId val="48313856"/>
      </c:barChart>
      <c:catAx>
        <c:axId val="4831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8313856"/>
        <c:crosses val="autoZero"/>
        <c:auto val="1"/>
        <c:lblAlgn val="ctr"/>
        <c:lblOffset val="100"/>
        <c:noMultiLvlLbl val="0"/>
      </c:catAx>
      <c:valAx>
        <c:axId val="48313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31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5632228825937693"/>
          <c:y val="0.12840261938648201"/>
          <c:w val="0.54090818890737946"/>
          <c:h val="8.6129925217754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28" b="1" i="0" u="none" strike="noStrike" kern="1200" baseline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пшеница, ц/га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1.1235531934147051E-3"/>
          <c:y val="4.9827720044304941E-3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2128" b="1" i="0" u="none" strike="noStrike" kern="1200" baseline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706257069046E-2"/>
          <c:y val="0.21818650417429883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Айна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17.7</c:v>
                </c:pt>
                <c:pt idx="1">
                  <c:v>14.4</c:v>
                </c:pt>
                <c:pt idx="2" formatCode="0.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Ликамеро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16.600000000000001</c:v>
                </c:pt>
                <c:pt idx="1">
                  <c:v>14.3</c:v>
                </c:pt>
                <c:pt idx="2" formatCode="0.0">
                  <c:v>15.4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945600"/>
        <c:axId val="47947136"/>
      </c:barChart>
      <c:catAx>
        <c:axId val="47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947136"/>
        <c:crosses val="autoZero"/>
        <c:auto val="1"/>
        <c:lblAlgn val="ctr"/>
        <c:lblOffset val="100"/>
        <c:noMultiLvlLbl val="0"/>
      </c:catAx>
      <c:valAx>
        <c:axId val="47947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945600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47487157820501263"/>
          <c:y val="0.10829274719170802"/>
          <c:w val="0.51864934870907509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көпжылдық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шөп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многолетная</a:t>
            </a:r>
            <a:r>
              <a:rPr lang="ru-RU" sz="14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трава 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4236205489037018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Ляззат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17.8</c:v>
                </c:pt>
                <c:pt idx="1">
                  <c:v>10.8</c:v>
                </c:pt>
                <c:pt idx="2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3-4868-BEE2-5644B17AC76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Вектор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83-4868-BEE2-5644B17AC76B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83-4868-BEE2-5644B17AC76B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83-4868-BEE2-5644B17AC76B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83-4868-BEE2-5644B17AC76B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83-4868-BEE2-5644B17AC76B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19.100000000000001</c:v>
                </c:pt>
                <c:pt idx="1">
                  <c:v>10.5</c:v>
                </c:pt>
                <c:pt idx="2">
                  <c:v>14.8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83-4868-BEE2-5644B17A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2842329881171888"/>
          <c:y val="0.18802355639920573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3533389809215641"/>
          <c:y val="4.996528744139388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2.8801638932368149E-2"/>
          <c:y val="0.29687986219249224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Ляззат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13</c:v>
                </c:pt>
                <c:pt idx="1">
                  <c:v>16.8</c:v>
                </c:pt>
                <c:pt idx="2">
                  <c:v>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52-4FC3-B25C-6014C7FF36C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Вектор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52-4FC3-B25C-6014C7FF36CA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752-4FC3-B25C-6014C7FF36CA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52-4FC3-B25C-6014C7FF36CA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752-4FC3-B25C-6014C7FF36CA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52-4FC3-B25C-6014C7FF36CA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16.2</c:v>
                </c:pt>
                <c:pt idx="1">
                  <c:v>23.4</c:v>
                </c:pt>
                <c:pt idx="2">
                  <c:v>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52-4FC3-B25C-6014C7FF3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23220542847538886"/>
          <c:y val="0.18647066559419645"/>
          <c:w val="0.75959863642999981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4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050979386868847"/>
          <c:y val="3.2745723701417581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3.1496692935308518E-2"/>
          <c:y val="0.3105586207324566"/>
          <c:w val="0.95496256033530136"/>
          <c:h val="0.57622104101895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Ляззат (ст.)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12.2</c:v>
                </c:pt>
                <c:pt idx="1">
                  <c:v>15.1</c:v>
                </c:pt>
                <c:pt idx="2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0F-487B-A6BC-FEA49FF3DEC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Вектор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0"/>
              <c:layout>
                <c:manualLayout>
                  <c:x val="4.2226943966431078E-4"/>
                  <c:y val="-4.9851017139952659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0F-487B-A6BC-FEA49FF3DEC3}"/>
                </c:ext>
              </c:extLst>
            </c:dLbl>
            <c:dLbl>
              <c:idx val="1"/>
              <c:layout>
                <c:manualLayout>
                  <c:x val="1.7114739198738173E-3"/>
                  <c:y val="-6.03262472121718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30F-487B-A6BC-FEA49FF3DEC3}"/>
                </c:ext>
              </c:extLst>
            </c:dLbl>
            <c:dLbl>
              <c:idx val="2"/>
              <c:layout>
                <c:manualLayout>
                  <c:x val="3.0080080528451674E-3"/>
                  <c:y val="7.32875116685591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0F-487B-A6BC-FEA49FF3DEC3}"/>
                </c:ext>
              </c:extLst>
            </c:dLbl>
            <c:dLbl>
              <c:idx val="3"/>
              <c:layout>
                <c:manualLayout>
                  <c:x val="3.8674098391631761E-3"/>
                  <c:y val="1.60533308136305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30F-487B-A6BC-FEA49FF3DEC3}"/>
                </c:ext>
              </c:extLst>
            </c:dLbl>
            <c:dLbl>
              <c:idx val="4"/>
              <c:layout>
                <c:manualLayout>
                  <c:x val="1.0798119936786936E-2"/>
                  <c:y val="-3.3615298931324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0F-487B-A6BC-FEA49FF3DEC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>
                      <a:glow>
                        <a:schemeClr val="accent1">
                          <a:alpha val="3000"/>
                        </a:schemeClr>
                      </a:glow>
                      <a:softEdge rad="12700"/>
                    </a:effectLst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15</c:v>
                </c:pt>
                <c:pt idx="1">
                  <c:v>18</c:v>
                </c:pt>
                <c:pt idx="2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0F-487B-A6BC-FEA49FF3DE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-26"/>
        <c:axId val="47855104"/>
        <c:axId val="47856640"/>
      </c:barChart>
      <c:catAx>
        <c:axId val="47855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7856640"/>
        <c:crosses val="autoZero"/>
        <c:auto val="1"/>
        <c:lblAlgn val="ctr"/>
        <c:lblOffset val="100"/>
        <c:noMultiLvlLbl val="0"/>
      </c:catAx>
      <c:valAx>
        <c:axId val="47856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855104"/>
        <c:crosses val="autoZero"/>
        <c:crossBetween val="between"/>
      </c:valAx>
      <c:spPr>
        <a:noFill/>
        <a:ln>
          <a:noFill/>
        </a:ln>
        <a:effectLst>
          <a:glow rad="482600">
            <a:schemeClr val="accent1">
              <a:alpha val="40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1044585931499193"/>
          <c:y val="0.18589586451680198"/>
          <c:w val="0.84045024851379013"/>
          <c:h val="9.48378131368834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ru-KZ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1097006246617758"/>
          <c:y val="0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824854079649295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Анель 16 ст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 formatCode="0.0">
                  <c:v>9.3000000000000007</c:v>
                </c:pt>
                <c:pt idx="1">
                  <c:v>8.1999999999999993</c:v>
                </c:pt>
                <c:pt idx="2" formatCode="0.0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9-4846-8C84-018F9DA51D3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КС Элем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7.5</c:v>
                </c:pt>
                <c:pt idx="1">
                  <c:v>14.6</c:v>
                </c:pt>
                <c:pt idx="2">
                  <c:v>11.1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AB-4C94-93BE-A429B3ED0D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8935673814020668E-2"/>
          <c:y val="0.90988548532338953"/>
          <c:w val="0.88235379760671762"/>
          <c:h val="9.011455444004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/Предшественник: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бидай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/пшеница,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98534123448649"/>
          <c:y val="9.1272711723045536E-3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8824854079649295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Анель 16 ст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 formatCode="0.0">
                  <c:v>8.8000000000000007</c:v>
                </c:pt>
                <c:pt idx="1">
                  <c:v>6.3</c:v>
                </c:pt>
                <c:pt idx="2" formatCode="0.0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99-4250-B49D-1A9D0C02F7F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КС Элем</c:v>
                </c:pt>
              </c:strCache>
            </c:strRef>
          </c:tx>
          <c:spPr>
            <a:solidFill>
              <a:srgbClr val="B8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средняя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6.6</c:v>
                </c:pt>
                <c:pt idx="1">
                  <c:v>9.6</c:v>
                </c:pt>
                <c:pt idx="2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D-40A3-AF52-745DC1874C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49885568"/>
        <c:axId val="49888256"/>
      </c:barChart>
      <c:catAx>
        <c:axId val="49885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49888256"/>
        <c:crosses val="autoZero"/>
        <c:auto val="1"/>
        <c:lblAlgn val="ctr"/>
        <c:lblOffset val="100"/>
        <c:noMultiLvlLbl val="0"/>
      </c:catAx>
      <c:valAx>
        <c:axId val="4988825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885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6091007809168151E-2"/>
          <c:y val="0.82774000500921885"/>
          <c:w val="0.88804312961642251"/>
          <c:h val="9.011455444004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Алтын дала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18.5</c:v>
                </c:pt>
                <c:pt idx="1">
                  <c:v>11.9</c:v>
                </c:pt>
                <c:pt idx="2">
                  <c:v>15.9</c:v>
                </c:pt>
                <c:pt idx="3">
                  <c:v>15.4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Ясенка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19</c:v>
                </c:pt>
                <c:pt idx="1">
                  <c:v>13.6</c:v>
                </c:pt>
                <c:pt idx="2">
                  <c:v>20</c:v>
                </c:pt>
                <c:pt idx="3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Костанайская 207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21.4</c:v>
                </c:pt>
                <c:pt idx="1">
                  <c:v>12.6</c:v>
                </c:pt>
                <c:pt idx="2">
                  <c:v>15</c:v>
                </c:pt>
                <c:pt idx="3">
                  <c:v>16.3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Ясенка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22.3</c:v>
                </c:pt>
                <c:pt idx="1">
                  <c:v>13</c:v>
                </c:pt>
                <c:pt idx="2">
                  <c:v>19</c:v>
                </c:pt>
                <c:pt idx="3">
                  <c:v>18.100000000000001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Костанайская 207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15.9</c:v>
                </c:pt>
                <c:pt idx="1">
                  <c:v>6.9</c:v>
                </c:pt>
                <c:pt idx="2">
                  <c:v>15.2</c:v>
                </c:pt>
                <c:pt idx="3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Ясенка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17.3</c:v>
                </c:pt>
                <c:pt idx="1">
                  <c:v>6.5</c:v>
                </c:pt>
                <c:pt idx="2">
                  <c:v>22.6</c:v>
                </c:pt>
                <c:pt idx="3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Предшественник: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усл ст Массимо Меридио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среднее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 formatCode="0.0">
                  <c:v>1.9</c:v>
                </c:pt>
                <c:pt idx="1">
                  <c:v>5.5</c:v>
                </c:pt>
                <c:pt idx="2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Ясенка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среднее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1.8</c:v>
                </c:pt>
                <c:pt idx="1">
                  <c:v>5.7</c:v>
                </c:pt>
                <c:pt idx="2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Предшественник: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усл ст Массимо Меридио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среднее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 formatCode="0.0">
                  <c:v>10.5</c:v>
                </c:pt>
                <c:pt idx="1">
                  <c:v>15.6</c:v>
                </c:pt>
                <c:pt idx="2">
                  <c:v>13.1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Ясенка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среднее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10.8</c:v>
                </c:pt>
                <c:pt idx="1">
                  <c:v>16.600000000000001</c:v>
                </c:pt>
                <c:pt idx="2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Каргала 69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8.1</c:v>
                </c:pt>
                <c:pt idx="1">
                  <c:v>3</c:v>
                </c:pt>
                <c:pt idx="2">
                  <c:v>1.9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Ясенка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8.6</c:v>
                </c:pt>
                <c:pt idx="1">
                  <c:v>3</c:v>
                </c:pt>
                <c:pt idx="2">
                  <c:v>2.2999999999999998</c:v>
                </c:pt>
                <c:pt idx="3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Алтын дала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18.5</c:v>
                </c:pt>
                <c:pt idx="1">
                  <c:v>11.9</c:v>
                </c:pt>
                <c:pt idx="2">
                  <c:v>15.9</c:v>
                </c:pt>
                <c:pt idx="3">
                  <c:v>15.4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Шукшинка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18.3</c:v>
                </c:pt>
                <c:pt idx="1">
                  <c:v>14.4</c:v>
                </c:pt>
                <c:pt idx="2">
                  <c:v>17.5</c:v>
                </c:pt>
                <c:pt idx="3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Костанайская 207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23.5</c:v>
                </c:pt>
                <c:pt idx="1">
                  <c:v>17.8</c:v>
                </c:pt>
                <c:pt idx="2">
                  <c:v>20.2</c:v>
                </c:pt>
                <c:pt idx="3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Шукшинка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25.5</c:v>
                </c:pt>
                <c:pt idx="1">
                  <c:v>18.600000000000001</c:v>
                </c:pt>
                <c:pt idx="2">
                  <c:v>23.1</c:v>
                </c:pt>
                <c:pt idx="3">
                  <c:v>22.4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Костанайская 207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15.9</c:v>
                </c:pt>
                <c:pt idx="1">
                  <c:v>6.9</c:v>
                </c:pt>
                <c:pt idx="2">
                  <c:v>15.2</c:v>
                </c:pt>
                <c:pt idx="3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Шукшинка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18.3</c:v>
                </c:pt>
                <c:pt idx="1">
                  <c:v>8.8000000000000007</c:v>
                </c:pt>
                <c:pt idx="2">
                  <c:v>21.1</c:v>
                </c:pt>
                <c:pt idx="3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Алтын дала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среднее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14.3</c:v>
                </c:pt>
                <c:pt idx="1">
                  <c:v>16.7</c:v>
                </c:pt>
                <c:pt idx="2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Омский лазурит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среднее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16.7</c:v>
                </c:pt>
                <c:pt idx="1">
                  <c:v>17.3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Алғы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дақыл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Предшественник: 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сүрі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танап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пар, ц/га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052807304564726"/>
          <c:y val="1.5543000142768737E-2"/>
        </c:manualLayout>
      </c:layout>
      <c:overlay val="0"/>
      <c:spPr>
        <a:solidFill>
          <a:schemeClr val="lt1"/>
        </a:solidFill>
        <a:ln w="25400" cap="flat" cmpd="sng" algn="ctr">
          <a:noFill/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17830431978526748"/>
          <c:w val="0.99432414919251888"/>
          <c:h val="0.510564234056164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ст. Янтарная 150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lt1"/>
              </a:solidFill>
              <a:ln w="25400" cap="flat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 formatCode="0.0">
                  <c:v>21.7</c:v>
                </c:pt>
                <c:pt idx="1">
                  <c:v>18.3</c:v>
                </c:pt>
                <c:pt idx="2">
                  <c:v>17.8</c:v>
                </c:pt>
                <c:pt idx="3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0-4ECB-A8C8-8AA980AD6E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Оазис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rgbClr val="FAFDF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среднее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24</c:v>
                </c:pt>
                <c:pt idx="1">
                  <c:v>19.5</c:v>
                </c:pt>
                <c:pt idx="2">
                  <c:v>20</c:v>
                </c:pt>
                <c:pt idx="3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7F-4F39-8DD2-4D48B1459D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3"/>
        <c:overlap val="-30"/>
        <c:axId val="50130944"/>
        <c:axId val="50132480"/>
      </c:barChart>
      <c:catAx>
        <c:axId val="5013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KZ"/>
          </a:p>
        </c:txPr>
        <c:crossAx val="50132480"/>
        <c:crosses val="autoZero"/>
        <c:auto val="1"/>
        <c:lblAlgn val="ctr"/>
        <c:lblOffset val="100"/>
        <c:noMultiLvlLbl val="0"/>
      </c:catAx>
      <c:valAx>
        <c:axId val="50132480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5013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1142262197506267E-2"/>
          <c:y val="0.88336759870030857"/>
          <c:w val="0.84516876005220865"/>
          <c:h val="9.01144786030901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KZ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800">
          <a:solidFill>
            <a:schemeClr val="dk1"/>
          </a:solidFill>
          <a:latin typeface="+mn-lt"/>
          <a:ea typeface="+mn-ea"/>
          <a:cs typeface="+mn-cs"/>
        </a:defRPr>
      </a:pPr>
      <a:endParaRPr lang="ru-K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3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4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5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F3081-A649-4941-9543-A262D892FE74}" type="datetimeFigureOut">
              <a:rPr lang="ru-RU" smtClean="0"/>
              <a:pPr/>
              <a:t>05.12.2024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4D071-E96B-437E-9B40-A55612CE21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471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068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1051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123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7756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645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5525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553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5630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842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773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1256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3266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0286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52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4057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479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8101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60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0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62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36271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64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674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66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0075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21040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A4D071-E96B-437E-9B40-A55612CE21B4}" type="slidenum">
              <a:rPr lang="ru-RU" smtClean="0"/>
              <a:pPr/>
              <a:t>70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2866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8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59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4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2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39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40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72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85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93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660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94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05.12.2024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38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37.xml"/><Relationship Id="rId4" Type="http://schemas.openxmlformats.org/officeDocument/2006/relationships/chart" Target="../charts/chart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39.xml"/><Relationship Id="rId4" Type="http://schemas.openxmlformats.org/officeDocument/2006/relationships/chart" Target="../charts/chart3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41.xml"/><Relationship Id="rId4" Type="http://schemas.openxmlformats.org/officeDocument/2006/relationships/chart" Target="../charts/chart4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43.xml"/><Relationship Id="rId4" Type="http://schemas.openxmlformats.org/officeDocument/2006/relationships/chart" Target="../charts/chart4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45.xml"/><Relationship Id="rId4" Type="http://schemas.openxmlformats.org/officeDocument/2006/relationships/chart" Target="../charts/chart4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47.xml"/><Relationship Id="rId4" Type="http://schemas.openxmlformats.org/officeDocument/2006/relationships/chart" Target="../charts/chart4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9.xml"/><Relationship Id="rId4" Type="http://schemas.openxmlformats.org/officeDocument/2006/relationships/chart" Target="../charts/chart4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51.xml"/><Relationship Id="rId4" Type="http://schemas.openxmlformats.org/officeDocument/2006/relationships/chart" Target="../charts/chart5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53.xml"/><Relationship Id="rId4" Type="http://schemas.openxmlformats.org/officeDocument/2006/relationships/chart" Target="../charts/chart5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55.xml"/><Relationship Id="rId4" Type="http://schemas.openxmlformats.org/officeDocument/2006/relationships/chart" Target="../charts/chart5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57.xml"/><Relationship Id="rId4" Type="http://schemas.openxmlformats.org/officeDocument/2006/relationships/chart" Target="../charts/chart5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59.xml"/><Relationship Id="rId4" Type="http://schemas.openxmlformats.org/officeDocument/2006/relationships/chart" Target="../charts/chart5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61.xml"/><Relationship Id="rId4" Type="http://schemas.openxmlformats.org/officeDocument/2006/relationships/chart" Target="../charts/chart6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63.xml"/><Relationship Id="rId4" Type="http://schemas.openxmlformats.org/officeDocument/2006/relationships/chart" Target="../charts/chart6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hart" Target="../charts/chart65.xml"/><Relationship Id="rId4" Type="http://schemas.openxmlformats.org/officeDocument/2006/relationships/chart" Target="../charts/chart6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68.xml"/><Relationship Id="rId5" Type="http://schemas.openxmlformats.org/officeDocument/2006/relationships/chart" Target="../charts/chart67.xml"/><Relationship Id="rId4" Type="http://schemas.openxmlformats.org/officeDocument/2006/relationships/image" Target="../media/image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70.xml"/><Relationship Id="rId4" Type="http://schemas.openxmlformats.org/officeDocument/2006/relationships/chart" Target="../charts/chart6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9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f4.bcbits.com/img/a1159341480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812"/>
            <a:ext cx="3995936" cy="38411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395536" y="188640"/>
            <a:ext cx="8852134" cy="618630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2025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жылға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арналған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Республикасында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пайдалануға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ұсынылатын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селекциялық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жетістіктердің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мемлекеттік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тізбесіне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енгізілетін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өзгерістер</a:t>
            </a:r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ru-RU" sz="3600" b="1" dirty="0">
              <a:ln>
                <a:solidFill>
                  <a:schemeClr val="accent3">
                    <a:lumMod val="50000"/>
                  </a:schemeClr>
                </a:solidFill>
              </a:ln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Изменения, вносимые </a:t>
            </a:r>
          </a:p>
          <a:p>
            <a:pPr algn="ctr"/>
            <a:r>
              <a:rPr lang="ru-RU" sz="3600" b="1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в Государственный реестр селекционных достижений, рекомендуемых к использованию в Республике Казахстан по зерновым культурам на 2025 год  </a:t>
            </a:r>
          </a:p>
        </p:txBody>
      </p:sp>
    </p:spTree>
    <p:extLst>
      <p:ext uri="{BB962C8B-B14F-4D97-AF65-F5344CB8AC3E}">
        <p14:creationId xmlns:p14="http://schemas.microsoft.com/office/powerpoint/2010/main" val="42046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>
            <a:off x="1746466" y="1906645"/>
            <a:ext cx="0" cy="60228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620273" y="1197866"/>
            <a:ext cx="2367545" cy="6610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Жаворонок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663446" y="90544"/>
            <a:ext cx="5400601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мягкая озимая</a:t>
            </a:r>
            <a:br>
              <a:rPr lang="en-US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-раннеспелая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118085" y="2508930"/>
            <a:ext cx="3949857" cy="920070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Алматы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Алматинская область</a:t>
            </a:r>
          </a:p>
          <a:p>
            <a:pPr marL="0" indent="0" algn="ctr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Одесская 120             – 1993 г.</a:t>
            </a: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4"/>
            <a:ext cx="720080" cy="1035115"/>
          </a:xfrm>
          <a:prstGeom prst="rect">
            <a:avLst/>
          </a:prstGeom>
        </p:spPr>
      </p:pic>
      <p:graphicFrame>
        <p:nvGraphicFramePr>
          <p:cNvPr id="20" name="Диаграмма 19"/>
          <p:cNvGraphicFramePr/>
          <p:nvPr>
            <p:extLst>
              <p:ext uri="{D42A27DB-BD31-4B8C-83A1-F6EECF244321}">
                <p14:modId xmlns:p14="http://schemas.microsoft.com/office/powerpoint/2010/main" val="1927236712"/>
              </p:ext>
            </p:extLst>
          </p:nvPr>
        </p:nvGraphicFramePr>
        <p:xfrm>
          <a:off x="3813726" y="1430152"/>
          <a:ext cx="5076174" cy="3583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995936" y="723980"/>
            <a:ext cx="4893964" cy="8309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урожайность, ц/га  </a:t>
            </a: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жерде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23549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59929" y="152561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Прямоугольник 15"/>
          <p:cNvSpPr/>
          <p:nvPr/>
        </p:nvSpPr>
        <p:spPr>
          <a:xfrm>
            <a:off x="359024" y="242882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Жаворонок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Алматы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Жаворонок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Алматинской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510921"/>
              </p:ext>
            </p:extLst>
          </p:nvPr>
        </p:nvGraphicFramePr>
        <p:xfrm>
          <a:off x="359025" y="2420888"/>
          <a:ext cx="8208912" cy="30749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8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33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Көрсеткіштер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Аксинья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Жаворонок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7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52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5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12,5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9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37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319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7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B7389F-6195-4A0E-B70C-99AFDD4E7244}"/>
              </a:ext>
            </a:extLst>
          </p:cNvPr>
          <p:cNvSpPr txBox="1"/>
          <p:nvPr/>
        </p:nvSpPr>
        <p:spPr>
          <a:xfrm>
            <a:off x="4870468" y="3372456"/>
            <a:ext cx="3962912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Средняя урожайность,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 по пшенице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2056597" y="1481233"/>
            <a:ext cx="0" cy="442235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70938" y="820232"/>
            <a:ext cx="2367545" cy="6610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Жаворонок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23528" y="71764"/>
            <a:ext cx="5112568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мягкая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-раннеспелая группа</a:t>
            </a: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395536" y="1923468"/>
            <a:ext cx="3744415" cy="693172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Область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ru-RU" sz="1800" b="1" u="sng" dirty="0">
              <a:solidFill>
                <a:srgbClr val="190C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Одесская 120             – 1993 г.</a:t>
            </a: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graphicFrame>
        <p:nvGraphicFramePr>
          <p:cNvPr id="20" name="Диаграмма 19"/>
          <p:cNvGraphicFramePr/>
          <p:nvPr>
            <p:extLst>
              <p:ext uri="{D42A27DB-BD31-4B8C-83A1-F6EECF244321}">
                <p14:modId xmlns:p14="http://schemas.microsoft.com/office/powerpoint/2010/main" val="2610836750"/>
              </p:ext>
            </p:extLst>
          </p:nvPr>
        </p:nvGraphicFramePr>
        <p:xfrm>
          <a:off x="4543298" y="664209"/>
          <a:ext cx="4398072" cy="27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145777" y="128887"/>
            <a:ext cx="3962912" cy="8309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урожайность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танапта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 по пару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888F6619-47B0-435E-B4CA-7DA599DE0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930609"/>
              </p:ext>
            </p:extLst>
          </p:nvPr>
        </p:nvGraphicFramePr>
        <p:xfrm>
          <a:off x="4454451" y="3867930"/>
          <a:ext cx="4398072" cy="27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B92041F-4B44-4FE9-B661-2CECB5EB6532}"/>
              </a:ext>
            </a:extLst>
          </p:cNvPr>
          <p:cNvSpPr txBox="1"/>
          <p:nvPr/>
        </p:nvSpPr>
        <p:spPr>
          <a:xfrm>
            <a:off x="65551" y="2888693"/>
            <a:ext cx="4361487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-Средняя урожайность,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суарылмалы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жағдайда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орошении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DEFC991E-9811-4A23-8AAA-A8AF77AA6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362777"/>
              </p:ext>
            </p:extLst>
          </p:nvPr>
        </p:nvGraphicFramePr>
        <p:xfrm>
          <a:off x="28967" y="3584060"/>
          <a:ext cx="4398072" cy="27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148945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138754"/>
              </p:ext>
            </p:extLst>
          </p:nvPr>
        </p:nvGraphicFramePr>
        <p:xfrm>
          <a:off x="519663" y="2348880"/>
          <a:ext cx="8208912" cy="29211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8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4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Аксинья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Жаворонок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3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1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31,4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2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972236-F8F9-4EAB-A54B-25B72DEAB1A5}"/>
              </a:ext>
            </a:extLst>
          </p:cNvPr>
          <p:cNvSpPr/>
          <p:nvPr/>
        </p:nvSpPr>
        <p:spPr>
          <a:xfrm>
            <a:off x="348444" y="108855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Жаворонок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Жаворонок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области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02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2195736" y="1432470"/>
            <a:ext cx="0" cy="442235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938395" y="771469"/>
            <a:ext cx="2367545" cy="6610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Жаворонок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23528" y="71764"/>
            <a:ext cx="5112568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мягкая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-раннеспелая группа</a:t>
            </a: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397095" y="1874705"/>
            <a:ext cx="3597281" cy="2748000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Түркістан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Туркестанская область</a:t>
            </a:r>
          </a:p>
          <a:p>
            <a:pPr marL="0" indent="0" algn="ctr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Красноводопадская 210 – 1976 г. Интенсивная                   – 1987 г. Южная 12                         – 1992 г. </a:t>
            </a:r>
          </a:p>
          <a:p>
            <a:pPr marL="0" indent="0" algn="ctr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Октябрина 70                   – 1993 г.</a:t>
            </a:r>
          </a:p>
          <a:p>
            <a:pPr marL="0" indent="0" algn="ctr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Виктория 11                      – 2019 г.</a:t>
            </a:r>
          </a:p>
          <a:p>
            <a:pPr marL="0" indent="0" algn="ctr">
              <a:buNone/>
            </a:pPr>
            <a:r>
              <a:rPr lang="kk-KZ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Шөл                                    – 2020 г.</a:t>
            </a: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graphicFrame>
        <p:nvGraphicFramePr>
          <p:cNvPr id="20" name="Диаграмма 19"/>
          <p:cNvGraphicFramePr/>
          <p:nvPr>
            <p:extLst>
              <p:ext uri="{D42A27DB-BD31-4B8C-83A1-F6EECF244321}">
                <p14:modId xmlns:p14="http://schemas.microsoft.com/office/powerpoint/2010/main" val="2918748155"/>
              </p:ext>
            </p:extLst>
          </p:nvPr>
        </p:nvGraphicFramePr>
        <p:xfrm>
          <a:off x="4476132" y="518492"/>
          <a:ext cx="4398072" cy="2988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76056" y="128887"/>
            <a:ext cx="4032634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–средняя урожайность, ц/га  (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 жерде – на богаре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DEFC991E-9811-4A23-8AAA-A8AF77AA6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240927"/>
              </p:ext>
            </p:extLst>
          </p:nvPr>
        </p:nvGraphicFramePr>
        <p:xfrm>
          <a:off x="4420297" y="3953992"/>
          <a:ext cx="4398072" cy="27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0AA8E80-898B-4241-BEFC-3C8C33E231C6}"/>
              </a:ext>
            </a:extLst>
          </p:cNvPr>
          <p:cNvSpPr txBox="1"/>
          <p:nvPr/>
        </p:nvSpPr>
        <p:spPr>
          <a:xfrm>
            <a:off x="4572000" y="3507264"/>
            <a:ext cx="4536689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–средняя урожайность, ц/га  (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суарылмалы жағдайда – на орошении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3775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028046"/>
              </p:ext>
            </p:extLst>
          </p:nvPr>
        </p:nvGraphicFramePr>
        <p:xfrm>
          <a:off x="519663" y="2348880"/>
          <a:ext cx="8208912" cy="29211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8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4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Шөл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Жаворонок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3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83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1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33,8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2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2,8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972236-F8F9-4EAB-A54B-25B72DEAB1A5}"/>
              </a:ext>
            </a:extLst>
          </p:cNvPr>
          <p:cNvSpPr/>
          <p:nvPr/>
        </p:nvSpPr>
        <p:spPr>
          <a:xfrm>
            <a:off x="348444" y="108855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Жаворонок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Түркістан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Жаворонок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Туркестанской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81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B7389F-6195-4A0E-B70C-99AFDD4E7244}"/>
              </a:ext>
            </a:extLst>
          </p:cNvPr>
          <p:cNvSpPr txBox="1"/>
          <p:nvPr/>
        </p:nvSpPr>
        <p:spPr>
          <a:xfrm>
            <a:off x="4063546" y="3044375"/>
            <a:ext cx="4592479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Средняя урожайность, ц/га  (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 по пшенице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1979712" y="460962"/>
            <a:ext cx="0" cy="184215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45369" y="89807"/>
            <a:ext cx="2259014" cy="32867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Шеф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104383" y="-11990"/>
            <a:ext cx="5256584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мягкая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-среднеранняя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805600" y="681181"/>
            <a:ext cx="2400471" cy="3924561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Область 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ru-RU" sz="1400" b="1" u="sng" dirty="0">
              <a:solidFill>
                <a:srgbClr val="190C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Безостая 1                     – 1960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Богарная 56                  – 1981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Жетысу                         – 1993 г. Стекловидная 24         – 1995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Эритроспермум 350   –  1998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Сапалы                         – 2001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Наз                                – 2001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Актерекская                 – 2002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Алмалы                        – 2003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Алия                             – 2007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Нуреке                          – 2008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Рамин                            – 2008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Карасай                         – 2009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Расад                            –  2011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Даулет                           – 2015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Егемен 20                      – 2016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Писанка                         – 2016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Фируза 40                      – 2020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2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Момышұлы                   – 2024 г. </a:t>
            </a:r>
          </a:p>
          <a:p>
            <a:pPr marL="0" indent="0" algn="ctr">
              <a:buNone/>
            </a:pPr>
            <a:endParaRPr lang="kk-KZ" sz="12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graphicFrame>
        <p:nvGraphicFramePr>
          <p:cNvPr id="20" name="Диаграмма 19"/>
          <p:cNvGraphicFramePr/>
          <p:nvPr>
            <p:extLst>
              <p:ext uri="{D42A27DB-BD31-4B8C-83A1-F6EECF244321}">
                <p14:modId xmlns:p14="http://schemas.microsoft.com/office/powerpoint/2010/main" val="1811278875"/>
              </p:ext>
            </p:extLst>
          </p:nvPr>
        </p:nvGraphicFramePr>
        <p:xfrm>
          <a:off x="3358261" y="840252"/>
          <a:ext cx="5333071" cy="2155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480394" y="645177"/>
            <a:ext cx="5333079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урожайность ц/га  (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танапта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 по пару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888F6619-47B0-435E-B4CA-7DA599DE0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824843"/>
              </p:ext>
            </p:extLst>
          </p:nvPr>
        </p:nvGraphicFramePr>
        <p:xfrm>
          <a:off x="3426342" y="3302024"/>
          <a:ext cx="5414305" cy="1912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B92041F-4B44-4FE9-B661-2CECB5EB6532}"/>
              </a:ext>
            </a:extLst>
          </p:cNvPr>
          <p:cNvSpPr txBox="1"/>
          <p:nvPr/>
        </p:nvSpPr>
        <p:spPr>
          <a:xfrm>
            <a:off x="23038" y="4639009"/>
            <a:ext cx="4361487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-Средняя урожайность, ц/га  (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суарылмалы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жағдайда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орошении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DEFC991E-9811-4A23-8AAA-A8AF77AA6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5748047"/>
              </p:ext>
            </p:extLst>
          </p:nvPr>
        </p:nvGraphicFramePr>
        <p:xfrm>
          <a:off x="-164436" y="4875985"/>
          <a:ext cx="4736436" cy="1912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4770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89686"/>
              </p:ext>
            </p:extLst>
          </p:nvPr>
        </p:nvGraphicFramePr>
        <p:xfrm>
          <a:off x="519663" y="2348880"/>
          <a:ext cx="8208912" cy="29211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8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4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Даулет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Шеф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3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1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36,8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2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972236-F8F9-4EAB-A54B-25B72DEAB1A5}"/>
              </a:ext>
            </a:extLst>
          </p:cNvPr>
          <p:cNvSpPr/>
          <p:nvPr/>
        </p:nvSpPr>
        <p:spPr>
          <a:xfrm>
            <a:off x="683568" y="108855"/>
            <a:ext cx="844985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Шеф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Шеф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области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1890584" y="971285"/>
            <a:ext cx="0" cy="357867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45369" y="404777"/>
            <a:ext cx="2259014" cy="448763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Санжара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042047" y="59993"/>
            <a:ext cx="5256584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мягкая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-среднеранняя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265957" y="1416252"/>
            <a:ext cx="2703604" cy="4552017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Алматы  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Алматинская область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Безостая 1                     – 1960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Богарная 56                  – 1981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Жетысу                         – 1993 г. Стекловидная 24         – 1995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Эритроспермум 350   –  1998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Сапалы                         – 2001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Наз                                – 2001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Актерекская                 – 2002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Алмалы                        – 2003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Алия                             – 2007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Нуреке                          – 2008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Рамин                            – 2008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Карасай                         – 2009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Расад                            –  2011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Даулет                           – 2015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Егемен 20                      – 2016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Писанка                         – 2016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Фируза 40                      – 2020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Момышұлы                   – 2024 г. </a:t>
            </a: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graphicFrame>
        <p:nvGraphicFramePr>
          <p:cNvPr id="20" name="Диаграмма 19"/>
          <p:cNvGraphicFramePr/>
          <p:nvPr>
            <p:extLst>
              <p:ext uri="{D42A27DB-BD31-4B8C-83A1-F6EECF244321}">
                <p14:modId xmlns:p14="http://schemas.microsoft.com/office/powerpoint/2010/main" val="815783257"/>
              </p:ext>
            </p:extLst>
          </p:nvPr>
        </p:nvGraphicFramePr>
        <p:xfrm>
          <a:off x="3478761" y="1988840"/>
          <a:ext cx="5333071" cy="395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41700" y="913653"/>
            <a:ext cx="5065482" cy="8309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урожайность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танапта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 по пару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3751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985130"/>
              </p:ext>
            </p:extLst>
          </p:nvPr>
        </p:nvGraphicFramePr>
        <p:xfrm>
          <a:off x="519663" y="2348880"/>
          <a:ext cx="8208912" cy="29211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8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4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Алия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Санжара</a:t>
                      </a:r>
                      <a:endParaRPr lang="ru-RU" sz="1800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3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63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1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37,1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39,2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100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2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972236-F8F9-4EAB-A54B-25B72DEAB1A5}"/>
              </a:ext>
            </a:extLst>
          </p:cNvPr>
          <p:cNvSpPr/>
          <p:nvPr/>
        </p:nvSpPr>
        <p:spPr>
          <a:xfrm>
            <a:off x="348444" y="108855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Санжара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Алматы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Санжара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Алматинской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84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1763688" y="1016782"/>
            <a:ext cx="1" cy="449067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21468" y="553580"/>
            <a:ext cx="2259014" cy="448763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Краса Дона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2123728" y="-35268"/>
            <a:ext cx="5544616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мягкая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-среднеранняя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362486" y="1466252"/>
            <a:ext cx="2894536" cy="4374965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Область 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ru-RU" sz="1400" b="1" u="sng" dirty="0">
              <a:solidFill>
                <a:srgbClr val="190C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Безостая 1                     – 1960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Богарная 56                  – 1981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Жетысу                         – 1993 г. Стекловидная 24         – 1995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Эритроспермум 350   –  1998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Сапалы                         – 2001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Наз                                – 2001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Актерекская                 – 2002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Алмалы                        – 2003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Алия                             – 2007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Нуреке                          – 2008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Рамин                            – 2008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Карасай                         – 2009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Расад                            –  2011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Даулет                           – 2015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Егемен 20                      – 2016 г.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Писанка                         – 2016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Фируза 40                      – 2020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Момышұлы                   – 2024 г. </a:t>
            </a:r>
          </a:p>
          <a:p>
            <a:pPr marL="0" indent="0" algn="ctr">
              <a:buNone/>
            </a:pPr>
            <a:endParaRPr lang="kk-KZ" sz="12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D5BF24-DE7B-4D33-B584-3CD6F39248BF}"/>
              </a:ext>
            </a:extLst>
          </p:cNvPr>
          <p:cNvSpPr txBox="1"/>
          <p:nvPr/>
        </p:nvSpPr>
        <p:spPr>
          <a:xfrm>
            <a:off x="3998801" y="629960"/>
            <a:ext cx="4612965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–средняя урожайность, ц/га  (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 жерде – на богаре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9881C360-A045-40BC-B40F-501DFB7AD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1297373"/>
              </p:ext>
            </p:extLst>
          </p:nvPr>
        </p:nvGraphicFramePr>
        <p:xfrm>
          <a:off x="3779911" y="1095108"/>
          <a:ext cx="4831837" cy="2477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4BA1981-C1F3-4006-989F-84CB66D8C311}"/>
              </a:ext>
            </a:extLst>
          </p:cNvPr>
          <p:cNvSpPr txBox="1"/>
          <p:nvPr/>
        </p:nvSpPr>
        <p:spPr>
          <a:xfrm>
            <a:off x="3707905" y="3594721"/>
            <a:ext cx="5256583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Средняя урожайность,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алғы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дақыл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 по пшенице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23" name="Диаграмма 22">
            <a:extLst>
              <a:ext uri="{FF2B5EF4-FFF2-40B4-BE49-F238E27FC236}">
                <a16:creationId xmlns:a16="http://schemas.microsoft.com/office/drawing/2014/main" id="{876A97D1-635B-41EB-8E49-1195AC23FA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594568"/>
              </p:ext>
            </p:extLst>
          </p:nvPr>
        </p:nvGraphicFramePr>
        <p:xfrm>
          <a:off x="3563887" y="4129848"/>
          <a:ext cx="5256583" cy="2675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7697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854949"/>
              </p:ext>
            </p:extLst>
          </p:nvPr>
        </p:nvGraphicFramePr>
        <p:xfrm>
          <a:off x="519663" y="2348880"/>
          <a:ext cx="8208912" cy="29211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8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4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Даулет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Краса Дона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3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12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31,2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2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972236-F8F9-4EAB-A54B-25B72DEAB1A5}"/>
              </a:ext>
            </a:extLst>
          </p:cNvPr>
          <p:cNvSpPr/>
          <p:nvPr/>
        </p:nvSpPr>
        <p:spPr>
          <a:xfrm>
            <a:off x="683568" y="108855"/>
            <a:ext cx="844985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Краса Дона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Краса Дона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области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8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>
            <a:off x="1746466" y="1906645"/>
            <a:ext cx="0" cy="60228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620274" y="1197866"/>
            <a:ext cx="2252383" cy="6610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Несіпхан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905211" y="59075"/>
            <a:ext cx="6264696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мягкая озимая</a:t>
            </a:r>
            <a:br>
              <a:rPr lang="en-US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 </a:t>
            </a:r>
            <a:r>
              <a:rPr lang="ru-RU" sz="20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0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118086" y="2508929"/>
            <a:ext cx="3551511" cy="1640152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Түркістан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Туркестанская область</a:t>
            </a:r>
          </a:p>
          <a:p>
            <a:pPr marL="0" indent="0" algn="ctr">
              <a:buNone/>
            </a:pPr>
            <a:r>
              <a:rPr lang="kk-KZ" sz="1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Бригада   – 2019 г. </a:t>
            </a:r>
          </a:p>
          <a:p>
            <a:pPr marL="0" indent="0" algn="ctr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Димаш – 2021 г. </a:t>
            </a:r>
          </a:p>
          <a:p>
            <a:pPr marL="0" indent="0" algn="ctr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Томирис 60 –   2022 г. </a:t>
            </a: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4"/>
            <a:ext cx="720080" cy="1035115"/>
          </a:xfrm>
          <a:prstGeom prst="rect">
            <a:avLst/>
          </a:prstGeom>
        </p:spPr>
      </p:pic>
      <p:graphicFrame>
        <p:nvGraphicFramePr>
          <p:cNvPr id="20" name="Диаграмма 19"/>
          <p:cNvGraphicFramePr/>
          <p:nvPr>
            <p:extLst>
              <p:ext uri="{D42A27DB-BD31-4B8C-83A1-F6EECF244321}">
                <p14:modId xmlns:p14="http://schemas.microsoft.com/office/powerpoint/2010/main" val="2225470382"/>
              </p:ext>
            </p:extLst>
          </p:nvPr>
        </p:nvGraphicFramePr>
        <p:xfrm>
          <a:off x="3754670" y="1044391"/>
          <a:ext cx="5024889" cy="27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139952" y="723980"/>
            <a:ext cx="4749948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Средняя урожайность,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жерде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31B560B5-0D8E-4BEC-ABCD-07D2AFE08D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698572"/>
              </p:ext>
            </p:extLst>
          </p:nvPr>
        </p:nvGraphicFramePr>
        <p:xfrm>
          <a:off x="3865011" y="4029305"/>
          <a:ext cx="4914548" cy="27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6720901-BFA9-41B2-A095-99D5640D2E7D}"/>
              </a:ext>
            </a:extLst>
          </p:cNvPr>
          <p:cNvSpPr txBox="1"/>
          <p:nvPr/>
        </p:nvSpPr>
        <p:spPr>
          <a:xfrm>
            <a:off x="4160204" y="3856693"/>
            <a:ext cx="4749948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Средняя урожайность,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суарылмалы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жағдайда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орошении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11890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778151"/>
              </p:ext>
            </p:extLst>
          </p:nvPr>
        </p:nvGraphicFramePr>
        <p:xfrm>
          <a:off x="534598" y="2204864"/>
          <a:ext cx="8208912" cy="302210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8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4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Бригада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Несіпхан</a:t>
                      </a:r>
                      <a:endParaRPr lang="ru-RU" sz="1800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82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75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36,6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35,3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2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A76E0A4-08F2-4BC2-8D7E-A5505108CF18}"/>
              </a:ext>
            </a:extLst>
          </p:cNvPr>
          <p:cNvSpPr/>
          <p:nvPr/>
        </p:nvSpPr>
        <p:spPr>
          <a:xfrm>
            <a:off x="516759" y="108855"/>
            <a:ext cx="878497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Несіпхан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Түркістан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Несіпхан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Туркестанской 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80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1763688" y="2234983"/>
            <a:ext cx="0" cy="357867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372066" y="1520268"/>
            <a:ext cx="2759767" cy="71471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Прииртышская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042047" y="59993"/>
            <a:ext cx="5256584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мягкая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-среднеранняя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294843" y="2660143"/>
            <a:ext cx="2958129" cy="1035115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Ақмола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Акмолинская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6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Мироновская 808        – 1965 г. </a:t>
            </a: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graphicFrame>
        <p:nvGraphicFramePr>
          <p:cNvPr id="20" name="Диаграмма 19"/>
          <p:cNvGraphicFramePr/>
          <p:nvPr>
            <p:extLst>
              <p:ext uri="{D42A27DB-BD31-4B8C-83A1-F6EECF244321}">
                <p14:modId xmlns:p14="http://schemas.microsoft.com/office/powerpoint/2010/main" val="2671583917"/>
              </p:ext>
            </p:extLst>
          </p:nvPr>
        </p:nvGraphicFramePr>
        <p:xfrm>
          <a:off x="3374111" y="1988840"/>
          <a:ext cx="5333071" cy="395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41700" y="913653"/>
            <a:ext cx="5065482" cy="83099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урожайность, ц/га  (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тәлімі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сүрі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танапта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на </a:t>
            </a:r>
            <a:r>
              <a:rPr lang="kk-KZ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богаре по пару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59502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02829"/>
              </p:ext>
            </p:extLst>
          </p:nvPr>
        </p:nvGraphicFramePr>
        <p:xfrm>
          <a:off x="467544" y="2204864"/>
          <a:ext cx="8449853" cy="316445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617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4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Белоглинка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u="sng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Прииртышская</a:t>
                      </a:r>
                      <a:endParaRPr lang="ru-RU" sz="1800" u="sng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750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2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31,4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29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883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745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1EB008-3415-4124-8FDA-5B523F49025B}"/>
              </a:ext>
            </a:extLst>
          </p:cNvPr>
          <p:cNvSpPr/>
          <p:nvPr/>
        </p:nvSpPr>
        <p:spPr>
          <a:xfrm>
            <a:off x="659505" y="165121"/>
            <a:ext cx="844985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Прииртышская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Ақмола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ru-RU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Прииртышская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Акмолинской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532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356908" y="1625770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6" y="58906"/>
            <a:ext cx="720080" cy="1035115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015742" y="221643"/>
            <a:ext cx="7894062" cy="10351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</a:p>
          <a:p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Пшеница мягкая озимая</a:t>
            </a:r>
            <a:br>
              <a:rPr lang="en-US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8" name="Oval 15"/>
          <p:cNvSpPr>
            <a:spLocks noChangeArrowheads="1"/>
          </p:cNvSpPr>
          <p:nvPr/>
        </p:nvSpPr>
        <p:spPr bwMode="auto">
          <a:xfrm flipH="1">
            <a:off x="811576" y="1946879"/>
            <a:ext cx="2002713" cy="66100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Сварог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Объект 11"/>
          <p:cNvSpPr>
            <a:spLocks noGrp="1"/>
          </p:cNvSpPr>
          <p:nvPr>
            <p:ph sz="half" idx="1"/>
          </p:nvPr>
        </p:nvSpPr>
        <p:spPr>
          <a:xfrm>
            <a:off x="272127" y="3242550"/>
            <a:ext cx="3752514" cy="1194562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Ақтөбе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algn="ctr">
              <a:buNone/>
            </a:pPr>
            <a:r>
              <a:rPr lang="ru-RU" sz="18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Актюбинская  область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Виктория одесская    – 2015 г.</a:t>
            </a: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1813426" y="2607880"/>
            <a:ext cx="0" cy="60228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5536" y="1728734"/>
            <a:ext cx="3962912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Средняя урожайность, ц/га</a:t>
            </a: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743405873"/>
              </p:ext>
            </p:extLst>
          </p:nvPr>
        </p:nvGraphicFramePr>
        <p:xfrm>
          <a:off x="4344064" y="2426414"/>
          <a:ext cx="4398072" cy="27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52017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03973" y="121885"/>
            <a:ext cx="81605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Сварог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Ақтөбе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наубайханалық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физико-химических  и хлебопекарных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мягкой  озимой пшеницы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Сварог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Актюбинской области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2860">
            <a:off x="1851566" y="230914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240716"/>
              </p:ext>
            </p:extLst>
          </p:nvPr>
        </p:nvGraphicFramePr>
        <p:xfrm>
          <a:off x="287524" y="2564904"/>
          <a:ext cx="8568951" cy="240806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4608511">
                  <a:extLst>
                    <a:ext uri="{9D8B030D-6E8A-4147-A177-3AD203B41FA5}">
                      <a16:colId xmlns:a16="http://schemas.microsoft.com/office/drawing/2014/main" val="1341904939"/>
                    </a:ext>
                  </a:extLst>
                </a:gridCol>
                <a:gridCol w="2437850">
                  <a:extLst>
                    <a:ext uri="{9D8B030D-6E8A-4147-A177-3AD203B41FA5}">
                      <a16:colId xmlns:a16="http://schemas.microsoft.com/office/drawing/2014/main" val="2818382087"/>
                    </a:ext>
                  </a:extLst>
                </a:gridCol>
                <a:gridCol w="1522590">
                  <a:extLst>
                    <a:ext uri="{9D8B030D-6E8A-4147-A177-3AD203B41FA5}">
                      <a16:colId xmlns:a16="http://schemas.microsoft.com/office/drawing/2014/main" val="185680843"/>
                    </a:ext>
                  </a:extLst>
                </a:gridCol>
              </a:tblGrid>
              <a:tr h="6262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8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 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Собербаш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Сварог</a:t>
                      </a:r>
                      <a:endParaRPr lang="ru-RU" sz="1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1362180"/>
                  </a:ext>
                </a:extLst>
              </a:tr>
              <a:tr h="2435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8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6995635"/>
                  </a:ext>
                </a:extLst>
              </a:tr>
              <a:tr h="298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8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5382206"/>
                  </a:ext>
                </a:extLst>
              </a:tr>
              <a:tr h="3022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8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27,9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25,1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1314067"/>
                  </a:ext>
                </a:extLst>
              </a:tr>
              <a:tr h="3022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8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400926"/>
                  </a:ext>
                </a:extLst>
              </a:tr>
              <a:tr h="3022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8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760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6898047"/>
                  </a:ext>
                </a:extLst>
              </a:tr>
              <a:tr h="3022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8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3,0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3,0</a:t>
                      </a: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8547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335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5847822" y="1345948"/>
            <a:ext cx="0" cy="357867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3599254" y="626123"/>
            <a:ext cx="2759767" cy="71471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Юбилярка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1871700" y="-23237"/>
            <a:ext cx="5400600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твердая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-среднеспелая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4678479" y="1703815"/>
            <a:ext cx="2182171" cy="4893535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Область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(тәлімі жер сүрі танап – на богаре по пару)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21,7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23,8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12,4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29,0 ц/га)</a:t>
            </a: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Алғы дақыл бидай бойынша - По пшенице –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22,9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21,0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15,7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32,0 ц/га)</a:t>
            </a: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Суарылмалы жағдайда – на орошении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44,7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29,7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53,3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51,1 ц/га)</a:t>
            </a:r>
          </a:p>
          <a:p>
            <a:pPr marL="0" indent="0" algn="ctr">
              <a:buNone/>
            </a:pPr>
            <a:endParaRPr lang="kk-KZ" sz="1400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92D5A1EF-10F7-4C83-9153-3C0C92465DDC}"/>
              </a:ext>
            </a:extLst>
          </p:cNvPr>
          <p:cNvCxnSpPr>
            <a:cxnSpLocks/>
          </p:cNvCxnSpPr>
          <p:nvPr/>
        </p:nvCxnSpPr>
        <p:spPr>
          <a:xfrm>
            <a:off x="8244408" y="983480"/>
            <a:ext cx="0" cy="700418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9EF9A2AC-6F48-451E-8408-5F65F3E87C6E}"/>
              </a:ext>
            </a:extLst>
          </p:cNvPr>
          <p:cNvSpPr txBox="1">
            <a:spLocks/>
          </p:cNvSpPr>
          <p:nvPr/>
        </p:nvSpPr>
        <p:spPr>
          <a:xfrm>
            <a:off x="6948613" y="1683898"/>
            <a:ext cx="2057400" cy="45492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Алматы 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Алматинская область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(тәлімі жер – на богаре)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21,2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20,7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14,9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28,0 ц/га)</a:t>
            </a:r>
          </a:p>
          <a:p>
            <a:pPr marL="0" indent="0" algn="ctr">
              <a:buNone/>
            </a:pPr>
            <a:endParaRPr lang="kk-KZ" sz="1400" b="1" dirty="0">
              <a:solidFill>
                <a:srgbClr val="190CC4"/>
              </a:solidFill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159AF0B-F899-4C4F-ABBE-DE62DE96AAA3}"/>
              </a:ext>
            </a:extLst>
          </p:cNvPr>
          <p:cNvCxnSpPr>
            <a:cxnSpLocks/>
          </p:cNvCxnSpPr>
          <p:nvPr/>
        </p:nvCxnSpPr>
        <p:spPr>
          <a:xfrm>
            <a:off x="3352469" y="983478"/>
            <a:ext cx="0" cy="512585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Объект 11">
            <a:extLst>
              <a:ext uri="{FF2B5EF4-FFF2-40B4-BE49-F238E27FC236}">
                <a16:creationId xmlns:a16="http://schemas.microsoft.com/office/drawing/2014/main" id="{FB652768-E745-4BB4-BE6F-34948C61EE74}"/>
              </a:ext>
            </a:extLst>
          </p:cNvPr>
          <p:cNvSpPr txBox="1">
            <a:spLocks/>
          </p:cNvSpPr>
          <p:nvPr/>
        </p:nvSpPr>
        <p:spPr>
          <a:xfrm>
            <a:off x="2407122" y="1496062"/>
            <a:ext cx="2182172" cy="49837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Қызылорда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Кызылординская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16,3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ц/га 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15,5 ц/га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17,2 ц/га)</a:t>
            </a: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5964835-E83C-4F29-A775-5177FB0A4955}"/>
              </a:ext>
            </a:extLst>
          </p:cNvPr>
          <p:cNvCxnSpPr>
            <a:cxnSpLocks/>
          </p:cNvCxnSpPr>
          <p:nvPr/>
        </p:nvCxnSpPr>
        <p:spPr>
          <a:xfrm>
            <a:off x="1043608" y="983479"/>
            <a:ext cx="0" cy="357867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Объект 11">
            <a:extLst>
              <a:ext uri="{FF2B5EF4-FFF2-40B4-BE49-F238E27FC236}">
                <a16:creationId xmlns:a16="http://schemas.microsoft.com/office/drawing/2014/main" id="{29D2A7A7-9DCF-4608-8ACC-71370228381D}"/>
              </a:ext>
            </a:extLst>
          </p:cNvPr>
          <p:cNvSpPr txBox="1">
            <a:spLocks/>
          </p:cNvSpPr>
          <p:nvPr/>
        </p:nvSpPr>
        <p:spPr>
          <a:xfrm>
            <a:off x="137987" y="1403159"/>
            <a:ext cx="2201651" cy="49837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Түркістан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Туркестанская область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(тәлімі жер – на богаре)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22,4 ц/га (2022 – 16,7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18,4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32,1 ц/га)</a:t>
            </a: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Суарылмалы жағдайда – на орошении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29,8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26,8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35,7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26,8 ц/га)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D44DD0C-E236-46F4-8B68-6394838BB33A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6359021" y="983480"/>
            <a:ext cx="1885387" cy="1"/>
          </a:xfrm>
          <a:prstGeom prst="line">
            <a:avLst/>
          </a:prstGeom>
          <a:ln>
            <a:solidFill>
              <a:srgbClr val="190CC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EAE8948-763E-48B0-A208-2DF050B1EC35}"/>
              </a:ext>
            </a:extLst>
          </p:cNvPr>
          <p:cNvCxnSpPr>
            <a:cxnSpLocks/>
          </p:cNvCxnSpPr>
          <p:nvPr/>
        </p:nvCxnSpPr>
        <p:spPr>
          <a:xfrm>
            <a:off x="1043608" y="977986"/>
            <a:ext cx="2555645" cy="1"/>
          </a:xfrm>
          <a:prstGeom prst="line">
            <a:avLst/>
          </a:prstGeom>
          <a:ln>
            <a:solidFill>
              <a:srgbClr val="190CC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062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Юбилярка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твердой  озимой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Юбилярка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2860">
            <a:off x="1851566" y="230914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1A85B0BC-6B60-4E4F-ABD5-E81BE7CE5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64567"/>
              </p:ext>
            </p:extLst>
          </p:nvPr>
        </p:nvGraphicFramePr>
        <p:xfrm>
          <a:off x="604283" y="1484784"/>
          <a:ext cx="8160514" cy="479964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80886">
                  <a:extLst>
                    <a:ext uri="{9D8B030D-6E8A-4147-A177-3AD203B41FA5}">
                      <a16:colId xmlns:a16="http://schemas.microsoft.com/office/drawing/2014/main" val="777030721"/>
                    </a:ext>
                  </a:extLst>
                </a:gridCol>
                <a:gridCol w="1388762">
                  <a:extLst>
                    <a:ext uri="{9D8B030D-6E8A-4147-A177-3AD203B41FA5}">
                      <a16:colId xmlns:a16="http://schemas.microsoft.com/office/drawing/2014/main" val="1451935267"/>
                    </a:ext>
                  </a:extLst>
                </a:gridCol>
                <a:gridCol w="1327312">
                  <a:extLst>
                    <a:ext uri="{9D8B030D-6E8A-4147-A177-3AD203B41FA5}">
                      <a16:colId xmlns:a16="http://schemas.microsoft.com/office/drawing/2014/main" val="1508716556"/>
                    </a:ext>
                  </a:extLst>
                </a:gridCol>
                <a:gridCol w="1315023">
                  <a:extLst>
                    <a:ext uri="{9D8B030D-6E8A-4147-A177-3AD203B41FA5}">
                      <a16:colId xmlns:a16="http://schemas.microsoft.com/office/drawing/2014/main" val="1858399692"/>
                    </a:ext>
                  </a:extLst>
                </a:gridCol>
                <a:gridCol w="1548531">
                  <a:extLst>
                    <a:ext uri="{9D8B030D-6E8A-4147-A177-3AD203B41FA5}">
                      <a16:colId xmlns:a16="http://schemas.microsoft.com/office/drawing/2014/main" val="4048026031"/>
                    </a:ext>
                  </a:extLst>
                </a:gridCol>
              </a:tblGrid>
              <a:tr h="791992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Түркістан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облысы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Туркестан область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Алматы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облысы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 область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Қызыорда облысы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Кызылординская область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Жетісу облысы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Область Жетісу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1436612539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Дән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шынылығы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876503529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Дәндегі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ақуыз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құрамы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Содержание белка в зерне, %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12,2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12,9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12,3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4212073065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Жарма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шығымы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/Выход крупы, % 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43,1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48,0 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40,0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44,0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540384520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Дән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уызының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құрамы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Содержание клейковины, %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20,1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28,7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29,5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2494424459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Уыз сапасы / Качество клейковины, ед. ИДК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775467498"/>
                  </a:ext>
                </a:extLst>
              </a:tr>
              <a:tr h="26229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Жарма түсі/ Цвет крупы</a:t>
                      </a: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балл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1628395156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Пісірілген макарон түсі / Цвет варенных макарон, балл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1482648973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Құрғақ макарон түсі / Цвет сухих макарон, балл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67878033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Жалпы бағасы/Общая оценка, балл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2,9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3,4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2,9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30361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298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2294468" y="2473684"/>
            <a:ext cx="5369341" cy="35795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5847822" y="1345948"/>
            <a:ext cx="0" cy="357867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3599254" y="626123"/>
            <a:ext cx="2759767" cy="71471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Агат Донской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1871700" y="-23237"/>
            <a:ext cx="5400600" cy="693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Күздік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-Пшеница твердая озимая</a:t>
            </a:r>
            <a:b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ортадан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кеш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-среднепоздняя группа)</a:t>
            </a:r>
          </a:p>
        </p:txBody>
      </p:sp>
      <p:sp>
        <p:nvSpPr>
          <p:cNvPr id="18" name="Объект 11"/>
          <p:cNvSpPr>
            <a:spLocks noGrp="1"/>
          </p:cNvSpPr>
          <p:nvPr>
            <p:ph sz="half" idx="1"/>
          </p:nvPr>
        </p:nvSpPr>
        <p:spPr>
          <a:xfrm>
            <a:off x="4678479" y="1703815"/>
            <a:ext cx="2182171" cy="4893535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Область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Жетісу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(тәлімі жер сүрі танап – на богаре по пару)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24,5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38,1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9,6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25,8 ц/га)</a:t>
            </a: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Алғы дақыл бидай бойынша - По пшенице –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21,1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20,9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12,0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30,4 ц/га)</a:t>
            </a: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Суарылмалы жағдайда – на орошении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43,2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39,6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50,9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39,0 ц/га)</a:t>
            </a:r>
          </a:p>
          <a:p>
            <a:pPr marL="0" indent="0" algn="ctr">
              <a:buNone/>
            </a:pPr>
            <a:endParaRPr lang="kk-KZ" sz="1400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59993"/>
            <a:ext cx="720080" cy="1035115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92D5A1EF-10F7-4C83-9153-3C0C92465DDC}"/>
              </a:ext>
            </a:extLst>
          </p:cNvPr>
          <p:cNvCxnSpPr>
            <a:cxnSpLocks/>
          </p:cNvCxnSpPr>
          <p:nvPr/>
        </p:nvCxnSpPr>
        <p:spPr>
          <a:xfrm>
            <a:off x="8244408" y="983480"/>
            <a:ext cx="0" cy="700418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9EF9A2AC-6F48-451E-8408-5F65F3E87C6E}"/>
              </a:ext>
            </a:extLst>
          </p:cNvPr>
          <p:cNvSpPr txBox="1">
            <a:spLocks/>
          </p:cNvSpPr>
          <p:nvPr/>
        </p:nvSpPr>
        <p:spPr>
          <a:xfrm>
            <a:off x="6948613" y="1683898"/>
            <a:ext cx="2057400" cy="454923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Алматы 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Алматинская область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(тәлімі жер – на богаре)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22,2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21,4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14,1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31,2 ц/га)</a:t>
            </a:r>
          </a:p>
          <a:p>
            <a:pPr marL="0" indent="0" algn="ctr">
              <a:buNone/>
            </a:pPr>
            <a:endParaRPr lang="kk-KZ" sz="1400" b="1" dirty="0">
              <a:solidFill>
                <a:srgbClr val="190CC4"/>
              </a:solidFill>
              <a:highlight>
                <a:srgbClr val="00FFFF"/>
              </a:highlight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159AF0B-F899-4C4F-ABBE-DE62DE96AAA3}"/>
              </a:ext>
            </a:extLst>
          </p:cNvPr>
          <p:cNvCxnSpPr>
            <a:cxnSpLocks/>
          </p:cNvCxnSpPr>
          <p:nvPr/>
        </p:nvCxnSpPr>
        <p:spPr>
          <a:xfrm>
            <a:off x="3352469" y="983478"/>
            <a:ext cx="0" cy="512585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Объект 11">
            <a:extLst>
              <a:ext uri="{FF2B5EF4-FFF2-40B4-BE49-F238E27FC236}">
                <a16:creationId xmlns:a16="http://schemas.microsoft.com/office/drawing/2014/main" id="{FB652768-E745-4BB4-BE6F-34948C61EE74}"/>
              </a:ext>
            </a:extLst>
          </p:cNvPr>
          <p:cNvSpPr txBox="1">
            <a:spLocks/>
          </p:cNvSpPr>
          <p:nvPr/>
        </p:nvSpPr>
        <p:spPr>
          <a:xfrm>
            <a:off x="2407122" y="1496062"/>
            <a:ext cx="2182172" cy="49837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Қызылорда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Кызылординская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18,7 ц/га 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16,7 ц/га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20,6 ц/га)</a:t>
            </a: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5964835-E83C-4F29-A775-5177FB0A4955}"/>
              </a:ext>
            </a:extLst>
          </p:cNvPr>
          <p:cNvCxnSpPr>
            <a:cxnSpLocks/>
          </p:cNvCxnSpPr>
          <p:nvPr/>
        </p:nvCxnSpPr>
        <p:spPr>
          <a:xfrm>
            <a:off x="1043608" y="983479"/>
            <a:ext cx="0" cy="357867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Объект 11">
            <a:extLst>
              <a:ext uri="{FF2B5EF4-FFF2-40B4-BE49-F238E27FC236}">
                <a16:creationId xmlns:a16="http://schemas.microsoft.com/office/drawing/2014/main" id="{29D2A7A7-9DCF-4608-8ACC-71370228381D}"/>
              </a:ext>
            </a:extLst>
          </p:cNvPr>
          <p:cNvSpPr txBox="1">
            <a:spLocks/>
          </p:cNvSpPr>
          <p:nvPr/>
        </p:nvSpPr>
        <p:spPr>
          <a:xfrm>
            <a:off x="137987" y="1403159"/>
            <a:ext cx="2201651" cy="498378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Түркістан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Туркестанская область</a:t>
            </a:r>
            <a:endParaRPr lang="kk-KZ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 өнімділік/средняя урожайность, (тәлімі жер – на богаре)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– 23,6 ц/га (2022 – 14,8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19,3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36,7 ц/га)</a:t>
            </a:r>
          </a:p>
          <a:p>
            <a:pPr marL="0" indent="0" algn="ctr">
              <a:buNone/>
            </a:pP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Суарылмалы жағдайда – на орошении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29,1ц/га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(2022 – 26,8 ц/га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2023 – 42,8 ц/га 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2024 – 17,8 ц/га)</a:t>
            </a:r>
          </a:p>
          <a:p>
            <a:pPr marL="0" indent="0" algn="ctr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Font typeface="Arial" pitchFamily="34" charset="0"/>
              <a:buNone/>
            </a:pPr>
            <a:endParaRPr lang="kk-KZ" sz="18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kk-KZ" sz="2000" b="1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Font typeface="Arial" pitchFamily="34" charset="0"/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2D44DD0C-E236-46F4-8B68-6394838BB33A}"/>
              </a:ext>
            </a:extLst>
          </p:cNvPr>
          <p:cNvCxnSpPr>
            <a:cxnSpLocks/>
            <a:stCxn id="5" idx="2"/>
          </p:cNvCxnSpPr>
          <p:nvPr/>
        </p:nvCxnSpPr>
        <p:spPr>
          <a:xfrm flipV="1">
            <a:off x="6359021" y="983480"/>
            <a:ext cx="1885387" cy="1"/>
          </a:xfrm>
          <a:prstGeom prst="line">
            <a:avLst/>
          </a:prstGeom>
          <a:ln>
            <a:solidFill>
              <a:srgbClr val="190CC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EAE8948-763E-48B0-A208-2DF050B1EC35}"/>
              </a:ext>
            </a:extLst>
          </p:cNvPr>
          <p:cNvCxnSpPr>
            <a:cxnSpLocks/>
          </p:cNvCxnSpPr>
          <p:nvPr/>
        </p:nvCxnSpPr>
        <p:spPr>
          <a:xfrm>
            <a:off x="1043608" y="977986"/>
            <a:ext cx="2555645" cy="1"/>
          </a:xfrm>
          <a:prstGeom prst="line">
            <a:avLst/>
          </a:prstGeom>
          <a:ln>
            <a:solidFill>
              <a:srgbClr val="190CC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37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08855"/>
            <a:ext cx="576064" cy="87187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Күздік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Агат Донской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твердой  озимой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Агат Донской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2860">
            <a:off x="1851566" y="230914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1A85B0BC-6B60-4E4F-ABD5-E81BE7CE5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481334"/>
              </p:ext>
            </p:extLst>
          </p:nvPr>
        </p:nvGraphicFramePr>
        <p:xfrm>
          <a:off x="604283" y="1484784"/>
          <a:ext cx="8160514" cy="4771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80886">
                  <a:extLst>
                    <a:ext uri="{9D8B030D-6E8A-4147-A177-3AD203B41FA5}">
                      <a16:colId xmlns:a16="http://schemas.microsoft.com/office/drawing/2014/main" val="777030721"/>
                    </a:ext>
                  </a:extLst>
                </a:gridCol>
                <a:gridCol w="1388762">
                  <a:extLst>
                    <a:ext uri="{9D8B030D-6E8A-4147-A177-3AD203B41FA5}">
                      <a16:colId xmlns:a16="http://schemas.microsoft.com/office/drawing/2014/main" val="1451935267"/>
                    </a:ext>
                  </a:extLst>
                </a:gridCol>
                <a:gridCol w="1327312">
                  <a:extLst>
                    <a:ext uri="{9D8B030D-6E8A-4147-A177-3AD203B41FA5}">
                      <a16:colId xmlns:a16="http://schemas.microsoft.com/office/drawing/2014/main" val="1508716556"/>
                    </a:ext>
                  </a:extLst>
                </a:gridCol>
                <a:gridCol w="1315023">
                  <a:extLst>
                    <a:ext uri="{9D8B030D-6E8A-4147-A177-3AD203B41FA5}">
                      <a16:colId xmlns:a16="http://schemas.microsoft.com/office/drawing/2014/main" val="1858399692"/>
                    </a:ext>
                  </a:extLst>
                </a:gridCol>
                <a:gridCol w="1548531">
                  <a:extLst>
                    <a:ext uri="{9D8B030D-6E8A-4147-A177-3AD203B41FA5}">
                      <a16:colId xmlns:a16="http://schemas.microsoft.com/office/drawing/2014/main" val="4048026031"/>
                    </a:ext>
                  </a:extLst>
                </a:gridCol>
              </a:tblGrid>
              <a:tr h="791992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Түркістан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облысы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Туркестан область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Алматы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облысы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Алматинская область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Қызыорда облысы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Кызылординская область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Жетісу облысы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Область Жетісу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1436612539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Дән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шынылығы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876503529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Дәндегі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ақуыз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құрамы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Содержание белка в зерне, %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12,9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12,7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13,2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4212073065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Жарма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шығымы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/Выход крупы, % 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47,0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40,0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41,0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540384520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Дән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уызының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құрамы</a:t>
                      </a: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Содержание клейковины, %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30,2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21,9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27,3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28,7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2494424459"/>
                  </a:ext>
                </a:extLst>
              </a:tr>
              <a:tr h="47392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Уыз сапасы / Качество клейковины, ед. ИДК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kk-KZ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775467498"/>
                  </a:ext>
                </a:extLst>
              </a:tr>
              <a:tr h="23384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Жарма түсі/ Цвет крупы</a:t>
                      </a:r>
                      <a:r>
                        <a:rPr lang="ru-RU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балл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kk-K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1628395156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Пісірілген макарон түсі / Цвет варенных макарон, балл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1482648973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Құрғақ макарон түсі / Цвет сухих макарон, балл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3,5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67878033"/>
                  </a:ext>
                </a:extLst>
              </a:tr>
              <a:tr h="39399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k-KZ" sz="1400" kern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Жалпы бағасы/Общая оценка, балл</a:t>
                      </a:r>
                      <a:endParaRPr lang="ru-KZ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3,9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4503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3,3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3,0</a:t>
                      </a:r>
                      <a:endParaRPr lang="ru-KZ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4" marR="6754" marT="6754" marB="0"/>
                </a:tc>
                <a:extLst>
                  <a:ext uri="{0D108BD9-81ED-4DB2-BD59-A6C34878D82A}">
                    <a16:rowId xmlns:a16="http://schemas.microsoft.com/office/drawing/2014/main" val="330361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582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2057036" y="225132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9470" y="98460"/>
            <a:ext cx="4340562" cy="1072577"/>
          </a:xfrm>
        </p:spPr>
        <p:txBody>
          <a:bodyPr>
            <a:noAutofit/>
          </a:bodyPr>
          <a:lstStyle/>
          <a:p>
            <a:pPr algn="ctr"/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раннеспелая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19470" y="1306802"/>
            <a:ext cx="3044416" cy="94405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ҚОСТАНАЙ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3287779566"/>
              </p:ext>
            </p:extLst>
          </p:nvPr>
        </p:nvGraphicFramePr>
        <p:xfrm>
          <a:off x="4585738" y="3375831"/>
          <a:ext cx="4286107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297229" y="2562434"/>
            <a:ext cx="3608622" cy="87478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Восточно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область</a:t>
            </a:r>
          </a:p>
          <a:p>
            <a:pPr marL="0" indent="0">
              <a:buNone/>
            </a:pPr>
            <a:r>
              <a:rPr lang="ru-RU" sz="16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Гранни</a:t>
            </a:r>
            <a:r>
              <a:rPr lang="ru-RU" sz="1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-2023 г.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" y="98930"/>
            <a:ext cx="571855" cy="836712"/>
          </a:xfrm>
          <a:prstGeom prst="rect">
            <a:avLst/>
          </a:prstGeom>
        </p:spPr>
      </p:pic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1965436941"/>
              </p:ext>
            </p:extLst>
          </p:nvPr>
        </p:nvGraphicFramePr>
        <p:xfrm>
          <a:off x="4239079" y="86111"/>
          <a:ext cx="4712336" cy="326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F0B7031-6B55-44F3-844F-0B6374AB1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3110939"/>
              </p:ext>
            </p:extLst>
          </p:nvPr>
        </p:nvGraphicFramePr>
        <p:xfrm>
          <a:off x="206324" y="3479395"/>
          <a:ext cx="4340562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619608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554106"/>
              </p:ext>
            </p:extLst>
          </p:nvPr>
        </p:nvGraphicFramePr>
        <p:xfrm>
          <a:off x="215516" y="1734102"/>
          <a:ext cx="8712968" cy="2965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33,1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2A98AA-EF69-4840-92AA-696B187DE14E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374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2057036" y="225132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9470" y="98460"/>
            <a:ext cx="4340562" cy="1072577"/>
          </a:xfrm>
        </p:spPr>
        <p:txBody>
          <a:bodyPr>
            <a:noAutofit/>
          </a:bodyPr>
          <a:lstStyle/>
          <a:p>
            <a:pPr algn="ctr"/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раннеспелая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19470" y="1306802"/>
            <a:ext cx="3044416" cy="94405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ҚОСТАНАЙ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584436105"/>
              </p:ext>
            </p:extLst>
          </p:nvPr>
        </p:nvGraphicFramePr>
        <p:xfrm>
          <a:off x="4585738" y="3375831"/>
          <a:ext cx="4286107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297229" y="2562434"/>
            <a:ext cx="3608622" cy="87478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Абай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–Область Абай</a:t>
            </a:r>
          </a:p>
          <a:p>
            <a:pPr marL="0" indent="0">
              <a:buNone/>
            </a:pPr>
            <a:r>
              <a:rPr lang="ru-RU" sz="16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Гранни</a:t>
            </a:r>
            <a:r>
              <a:rPr lang="ru-RU" sz="1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-2023 г.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" y="98930"/>
            <a:ext cx="571855" cy="836712"/>
          </a:xfrm>
          <a:prstGeom prst="rect">
            <a:avLst/>
          </a:prstGeom>
        </p:spPr>
      </p:pic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2496003861"/>
              </p:ext>
            </p:extLst>
          </p:nvPr>
        </p:nvGraphicFramePr>
        <p:xfrm>
          <a:off x="4239079" y="86111"/>
          <a:ext cx="4712336" cy="326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03587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15516" y="1734102"/>
          <a:ext cx="8712968" cy="2965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33,1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2A98AA-EF69-4840-92AA-696B187DE14E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336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2061760" y="127593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9470" y="98460"/>
            <a:ext cx="4628594" cy="765653"/>
          </a:xfrm>
        </p:spPr>
        <p:txBody>
          <a:bodyPr>
            <a:noAutofit/>
          </a:bodyPr>
          <a:lstStyle/>
          <a:p>
            <a:pPr algn="ctr"/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среднеранняя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9552" y="860545"/>
            <a:ext cx="3044416" cy="39759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КОНТИНЕНТАЛЬ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305480882"/>
              </p:ext>
            </p:extLst>
          </p:nvPr>
        </p:nvGraphicFramePr>
        <p:xfrm>
          <a:off x="4585738" y="3375831"/>
          <a:ext cx="4286107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376798" y="1584117"/>
            <a:ext cx="3608622" cy="1759045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Восточно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область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521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1993 г. Казахстанская 17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1994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Астана 2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2008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Байтерек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2008 г.</a:t>
            </a:r>
          </a:p>
          <a:p>
            <a:pPr marL="0" indent="0">
              <a:buNone/>
            </a:pPr>
            <a:r>
              <a:rPr lang="ru-RU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Гадис                                       - 2020 г.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" y="98930"/>
            <a:ext cx="571855" cy="836712"/>
          </a:xfrm>
          <a:prstGeom prst="rect">
            <a:avLst/>
          </a:prstGeom>
        </p:spPr>
      </p:pic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3157227154"/>
              </p:ext>
            </p:extLst>
          </p:nvPr>
        </p:nvGraphicFramePr>
        <p:xfrm>
          <a:off x="4239079" y="86111"/>
          <a:ext cx="4712336" cy="326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F0B7031-6B55-44F3-844F-0B6374AB1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7997903"/>
              </p:ext>
            </p:extLst>
          </p:nvPr>
        </p:nvGraphicFramePr>
        <p:xfrm>
          <a:off x="181238" y="3375831"/>
          <a:ext cx="4340562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97705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852749"/>
              </p:ext>
            </p:extLst>
          </p:nvPr>
        </p:nvGraphicFramePr>
        <p:xfrm>
          <a:off x="215516" y="1734102"/>
          <a:ext cx="8712968" cy="2965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Гадис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Континенталь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68,0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15,5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31,1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2A98AA-EF69-4840-92AA-696B187DE14E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Континенталь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Континенталь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802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2061760" y="127593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9470" y="98460"/>
            <a:ext cx="4628594" cy="765653"/>
          </a:xfrm>
        </p:spPr>
        <p:txBody>
          <a:bodyPr>
            <a:noAutofit/>
          </a:bodyPr>
          <a:lstStyle/>
          <a:p>
            <a:pPr algn="ctr"/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среднеранняя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9552" y="860545"/>
            <a:ext cx="3044416" cy="39759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КОНТИНЕНТАЛЬ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376798" y="1584117"/>
            <a:ext cx="3608622" cy="1759045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Абай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–Область Абай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521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1993 г. Казахстанская 17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1994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Астана 2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2008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Байтерек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2008 г.</a:t>
            </a:r>
          </a:p>
          <a:p>
            <a:pPr marL="0" indent="0">
              <a:buNone/>
            </a:pPr>
            <a:r>
              <a:rPr lang="ru-RU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Гадис                                       - 2020 г.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" y="98930"/>
            <a:ext cx="571855" cy="836712"/>
          </a:xfrm>
          <a:prstGeom prst="rect">
            <a:avLst/>
          </a:prstGeom>
        </p:spPr>
      </p:pic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75400406"/>
              </p:ext>
            </p:extLst>
          </p:nvPr>
        </p:nvGraphicFramePr>
        <p:xfrm>
          <a:off x="4239742" y="159290"/>
          <a:ext cx="4712336" cy="326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F0B7031-6B55-44F3-844F-0B6374AB1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104604"/>
              </p:ext>
            </p:extLst>
          </p:nvPr>
        </p:nvGraphicFramePr>
        <p:xfrm>
          <a:off x="4572000" y="3387863"/>
          <a:ext cx="4340562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60230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934179"/>
              </p:ext>
            </p:extLst>
          </p:nvPr>
        </p:nvGraphicFramePr>
        <p:xfrm>
          <a:off x="215516" y="1734102"/>
          <a:ext cx="8712968" cy="2965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Гадис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Континенталь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60,0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66,0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15,8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35,1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37,1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2A98AA-EF69-4840-92AA-696B187DE14E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Континенталь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Континенталь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405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2061760" y="127593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9470" y="98460"/>
            <a:ext cx="4628594" cy="765653"/>
          </a:xfrm>
        </p:spPr>
        <p:txBody>
          <a:bodyPr>
            <a:noAutofit/>
          </a:bodyPr>
          <a:lstStyle/>
          <a:p>
            <a:pPr algn="ctr"/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среднеранняя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9552" y="860545"/>
            <a:ext cx="3044416" cy="39759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ГРЕНАДА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376798" y="1584117"/>
            <a:ext cx="3547128" cy="3717091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Солт</a:t>
            </a:r>
            <a:r>
              <a:rPr lang="kk-KZ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үстік Қазақстан 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Северо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область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Казахстанская раннеспелая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1991 г.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Астана           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 г.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Памяти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Азиева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 г.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Светланка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2006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Астана 2         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2008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36     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2009 г.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2012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 г.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Тәуелсіздік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Континенталь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 г. </a:t>
            </a:r>
          </a:p>
          <a:p>
            <a:pPr marL="0" indent="0">
              <a:buNone/>
            </a:pPr>
            <a:r>
              <a:rPr lang="ru-RU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Зауральская волна                         </a:t>
            </a:r>
            <a:r>
              <a:rPr lang="kk-KZ" sz="1400" u="sng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lang="ru-RU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2020 г.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Степь                                               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 г.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Ишимская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                                      </a:t>
            </a:r>
            <a:r>
              <a:rPr lang="kk-KZ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2022 г. </a:t>
            </a:r>
            <a:endParaRPr lang="ru-RU" sz="1400" b="1" dirty="0">
              <a:solidFill>
                <a:srgbClr val="190C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" y="98930"/>
            <a:ext cx="571855" cy="836712"/>
          </a:xfrm>
          <a:prstGeom prst="rect">
            <a:avLst/>
          </a:prstGeom>
        </p:spPr>
      </p:pic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3971994889"/>
              </p:ext>
            </p:extLst>
          </p:nvPr>
        </p:nvGraphicFramePr>
        <p:xfrm>
          <a:off x="4239742" y="159290"/>
          <a:ext cx="4712336" cy="326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F0B7031-6B55-44F3-844F-0B6374AB1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7176197"/>
              </p:ext>
            </p:extLst>
          </p:nvPr>
        </p:nvGraphicFramePr>
        <p:xfrm>
          <a:off x="4572000" y="3387863"/>
          <a:ext cx="4340562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26272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899868"/>
              </p:ext>
            </p:extLst>
          </p:nvPr>
        </p:nvGraphicFramePr>
        <p:xfrm>
          <a:off x="215516" y="1734102"/>
          <a:ext cx="8712968" cy="299088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Зауральская волна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Гренада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2A98AA-EF69-4840-92AA-696B187DE14E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Гренада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Гренада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647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2061760" y="127593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9470" y="98460"/>
            <a:ext cx="4628594" cy="765653"/>
          </a:xfrm>
        </p:spPr>
        <p:txBody>
          <a:bodyPr>
            <a:noAutofit/>
          </a:bodyPr>
          <a:lstStyle/>
          <a:p>
            <a:pPr algn="ctr"/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ерте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среднеранняя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9552" y="860545"/>
            <a:ext cx="3044416" cy="39759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ГРЕНАДА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376798" y="1584117"/>
            <a:ext cx="3547128" cy="2925003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kk-KZ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Қостанай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6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–Костанайская область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Казахстанская раннеспелая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1991 г.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32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1996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Памяти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Азиева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2004 г.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Светланка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2006 г. </a:t>
            </a:r>
            <a:endParaRPr lang="ru-RU" sz="1400" b="1" strike="sngStrike" dirty="0">
              <a:solidFill>
                <a:srgbClr val="190CC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36     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2009 г.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2012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 г.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Тәуелсіздік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 г. </a:t>
            </a:r>
          </a:p>
          <a:p>
            <a:pPr marL="0" indent="0">
              <a:buNone/>
            </a:pPr>
            <a:r>
              <a:rPr lang="ru-RU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Континенталь                                 </a:t>
            </a:r>
            <a:r>
              <a:rPr lang="kk-KZ" sz="1400" u="sng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Зауральская волна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2020 г.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" y="98930"/>
            <a:ext cx="571855" cy="836712"/>
          </a:xfrm>
          <a:prstGeom prst="rect">
            <a:avLst/>
          </a:prstGeom>
        </p:spPr>
      </p:pic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4126182347"/>
              </p:ext>
            </p:extLst>
          </p:nvPr>
        </p:nvGraphicFramePr>
        <p:xfrm>
          <a:off x="4239742" y="159290"/>
          <a:ext cx="4712336" cy="326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F0B7031-6B55-44F3-844F-0B6374AB1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556443"/>
              </p:ext>
            </p:extLst>
          </p:nvPr>
        </p:nvGraphicFramePr>
        <p:xfrm>
          <a:off x="4572000" y="3387863"/>
          <a:ext cx="4340562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05674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165061"/>
              </p:ext>
            </p:extLst>
          </p:nvPr>
        </p:nvGraphicFramePr>
        <p:xfrm>
          <a:off x="215516" y="1734102"/>
          <a:ext cx="8712968" cy="30092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Континенталь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Гренада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25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2A98AA-EF69-4840-92AA-696B187DE14E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Гренада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Гренада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18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8" y="61150"/>
            <a:ext cx="571855" cy="836712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528076" y="223906"/>
            <a:ext cx="4464496" cy="775749"/>
          </a:xfrm>
        </p:spPr>
        <p:txBody>
          <a:bodyPr>
            <a:noAutofit/>
          </a:bodyPr>
          <a:lstStyle/>
          <a:p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8" name="Oval 15"/>
          <p:cNvSpPr>
            <a:spLocks noChangeArrowheads="1"/>
          </p:cNvSpPr>
          <p:nvPr/>
        </p:nvSpPr>
        <p:spPr bwMode="auto">
          <a:xfrm flipH="1">
            <a:off x="306268" y="1252421"/>
            <a:ext cx="2736302" cy="484011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КУРЬЕР</a:t>
            </a:r>
          </a:p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701159564"/>
              </p:ext>
            </p:extLst>
          </p:nvPr>
        </p:nvGraphicFramePr>
        <p:xfrm>
          <a:off x="4373236" y="61150"/>
          <a:ext cx="4464496" cy="3198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176407" y="2123056"/>
            <a:ext cx="3745808" cy="420834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0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Батыс</a:t>
            </a:r>
            <a:r>
              <a:rPr lang="ru-RU" sz="20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20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endParaRPr lang="ru-RU" sz="2000" b="1" u="sng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0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Западно</a:t>
            </a:r>
            <a:r>
              <a:rPr lang="ru-RU" sz="20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Казахстанская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Саратовская 42             – 1974 г. </a:t>
            </a:r>
            <a:r>
              <a:rPr lang="ru-RU" sz="20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Куйбышевка</a:t>
            </a: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– 1992 г. </a:t>
            </a:r>
            <a:r>
              <a:rPr lang="ru-RU" sz="20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Волгоуральская</a:t>
            </a: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– 2003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Саратовская 90              - 2007 г.  Альбидум 31                   - 2010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Шортандинская</a:t>
            </a: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2007   - 2012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Альбидум 32                  - 2015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Орал                               - 2016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Красноуральская</a:t>
            </a: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-2021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Династия                         -2023 г. 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1674418" y="1768497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1803487604"/>
              </p:ext>
            </p:extLst>
          </p:nvPr>
        </p:nvGraphicFramePr>
        <p:xfrm>
          <a:off x="4362892" y="3512307"/>
          <a:ext cx="4464496" cy="3121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582005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02333"/>
            <a:ext cx="571855" cy="83671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3AB0D0-3ED5-4702-8965-E0E3A751AFF4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Курьер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Курьер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6128E6C-54F1-48EF-8FA8-0DB436248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571307"/>
              </p:ext>
            </p:extLst>
          </p:nvPr>
        </p:nvGraphicFramePr>
        <p:xfrm>
          <a:off x="251520" y="1933559"/>
          <a:ext cx="8712968" cy="2965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Красноуральская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Курьер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868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8" y="61150"/>
            <a:ext cx="571855" cy="836712"/>
          </a:xfrm>
          <a:prstGeom prst="rect">
            <a:avLst/>
          </a:prstGeom>
        </p:spPr>
      </p:pic>
      <p:sp>
        <p:nvSpPr>
          <p:cNvPr id="8" name="Oval 15"/>
          <p:cNvSpPr>
            <a:spLocks noChangeArrowheads="1"/>
          </p:cNvSpPr>
          <p:nvPr/>
        </p:nvSpPr>
        <p:spPr bwMode="auto">
          <a:xfrm flipH="1">
            <a:off x="537446" y="1011320"/>
            <a:ext cx="2736302" cy="40677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Квинтус</a:t>
            </a:r>
          </a:p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165462" y="1829925"/>
            <a:ext cx="3542442" cy="479633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Шығыс</a:t>
            </a: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endParaRPr lang="ru-RU" sz="1600" b="1" u="sng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Восточно</a:t>
            </a: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Казахстанская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Саратовская 29                  - 1957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Кутулукская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    - 1982 г. </a:t>
            </a: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Карабалыкская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92           - 1997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Алем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                  - 2006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                                   - 2006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Алтайская 325                     - 2006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Наргиз                                  – 2011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38                            – 2013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Карагандинская 30             - 2015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Уралосибирская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- 2016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37                              - 2016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Карагандинская 60              –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Оскемен                                   - 2017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Дарья                                       - 2017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Курьер                                    – 2020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Иртыш 17                               – 2020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Барыс</a:t>
            </a:r>
            <a:r>
              <a:rPr lang="ru-RU" sz="16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– 2020 г. </a:t>
            </a:r>
          </a:p>
          <a:p>
            <a:pPr marL="0" indent="0" algn="ctr"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1905597" y="149195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3583125261"/>
              </p:ext>
            </p:extLst>
          </p:nvPr>
        </p:nvGraphicFramePr>
        <p:xfrm>
          <a:off x="4214064" y="2231502"/>
          <a:ext cx="4464496" cy="3861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F6DBB70-9BC7-44F4-B0F4-CF6CE718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4" y="66199"/>
            <a:ext cx="6984777" cy="775749"/>
          </a:xfrm>
        </p:spPr>
        <p:txBody>
          <a:bodyPr>
            <a:noAutofit/>
          </a:bodyPr>
          <a:lstStyle/>
          <a:p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</p:spTree>
    <p:extLst>
      <p:ext uri="{BB962C8B-B14F-4D97-AF65-F5344CB8AC3E}">
        <p14:creationId xmlns:p14="http://schemas.microsoft.com/office/powerpoint/2010/main" val="1298083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02333"/>
            <a:ext cx="571855" cy="83671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930368-BC4E-4F18-8332-981F7076DA82}"/>
              </a:ext>
            </a:extLst>
          </p:cNvPr>
          <p:cNvSpPr/>
          <p:nvPr/>
        </p:nvSpPr>
        <p:spPr>
          <a:xfrm>
            <a:off x="790002" y="438880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FC6ED74-CF5F-4E1A-BE14-4551538CA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424334"/>
              </p:ext>
            </p:extLst>
          </p:nvPr>
        </p:nvGraphicFramePr>
        <p:xfrm>
          <a:off x="215516" y="1734102"/>
          <a:ext cx="8712968" cy="30092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Барыс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Квинтус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25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4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8" y="61150"/>
            <a:ext cx="571855" cy="836712"/>
          </a:xfrm>
          <a:prstGeom prst="rect">
            <a:avLst/>
          </a:prstGeom>
        </p:spPr>
      </p:pic>
      <p:sp>
        <p:nvSpPr>
          <p:cNvPr id="8" name="Oval 15"/>
          <p:cNvSpPr>
            <a:spLocks noChangeArrowheads="1"/>
          </p:cNvSpPr>
          <p:nvPr/>
        </p:nvSpPr>
        <p:spPr bwMode="auto">
          <a:xfrm flipH="1">
            <a:off x="537446" y="1011320"/>
            <a:ext cx="2736302" cy="406774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Квинтус</a:t>
            </a:r>
          </a:p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165462" y="1829925"/>
            <a:ext cx="3542442" cy="479633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Абай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endParaRPr lang="ru-RU" sz="1600" b="1" u="sng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Область Абай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Саратовская 29                  - 1957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Кутулукская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    - 1982 г. </a:t>
            </a: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Карабалыкская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92           - 1997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Алем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                  - 2006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                                   - 2006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Алтайская 325                     - 2006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Наргиз                                  – 2011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38                            – 2013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Карагандинская 30             - 2015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Уралосибирская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- 2016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37                              - 2016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Карагандинская 60              –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Оскемен                                   - 2017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Дарья                                       - 2017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Курьер                                    – 2020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Иртыш 17                               – 2020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Барыс</a:t>
            </a:r>
            <a:r>
              <a:rPr lang="ru-RU" sz="16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– 2020 г. </a:t>
            </a:r>
          </a:p>
          <a:p>
            <a:pPr marL="0" indent="0" algn="ctr"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1905597" y="149195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3057055635"/>
              </p:ext>
            </p:extLst>
          </p:nvPr>
        </p:nvGraphicFramePr>
        <p:xfrm>
          <a:off x="4222466" y="3927992"/>
          <a:ext cx="4464496" cy="2777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F6DBB70-9BC7-44F4-B0F4-CF6CE718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4" y="66199"/>
            <a:ext cx="6984777" cy="775749"/>
          </a:xfrm>
        </p:spPr>
        <p:txBody>
          <a:bodyPr>
            <a:noAutofit/>
          </a:bodyPr>
          <a:lstStyle/>
          <a:p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7C11C13D-C54A-499B-8D77-F4D60BCB0F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04439"/>
              </p:ext>
            </p:extLst>
          </p:nvPr>
        </p:nvGraphicFramePr>
        <p:xfrm>
          <a:off x="4142058" y="745138"/>
          <a:ext cx="4464496" cy="3084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107446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02333"/>
            <a:ext cx="571855" cy="83671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930368-BC4E-4F18-8332-981F7076DA82}"/>
              </a:ext>
            </a:extLst>
          </p:cNvPr>
          <p:cNvSpPr/>
          <p:nvPr/>
        </p:nvSpPr>
        <p:spPr>
          <a:xfrm>
            <a:off x="790002" y="438880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FC6ED74-CF5F-4E1A-BE14-4551538CAE51}"/>
              </a:ext>
            </a:extLst>
          </p:cNvPr>
          <p:cNvGraphicFramePr>
            <a:graphicFrameLocks noGrp="1"/>
          </p:cNvGraphicFramePr>
          <p:nvPr/>
        </p:nvGraphicFramePr>
        <p:xfrm>
          <a:off x="215516" y="1734102"/>
          <a:ext cx="8712968" cy="30092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Барыс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Квинтус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25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860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39235" y="115756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7400" y="18437"/>
            <a:ext cx="5238581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51077" y="626600"/>
            <a:ext cx="2808313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Кудесница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3554332297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982382481"/>
              </p:ext>
            </p:extLst>
          </p:nvPr>
        </p:nvGraphicFramePr>
        <p:xfrm>
          <a:off x="3635896" y="3108925"/>
          <a:ext cx="5337531" cy="3488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683570" y="1487593"/>
            <a:ext cx="2304249" cy="4986017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9         - 1994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20     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Казахстанская 25       - 1997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29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30  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Любава                         - 2003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22     - 2004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Степная волна              - 2016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Умай        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Дива                             - 2016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30 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Оскемен                         - 2017 г.          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Августина                 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 2014   - 2017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  <a:r>
              <a:rPr lang="ru-RU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- 2021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Айгуль                         - 2023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43                    - 2024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Тингер                          - 2024 г.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27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02078"/>
              </p:ext>
            </p:extLst>
          </p:nvPr>
        </p:nvGraphicFramePr>
        <p:xfrm>
          <a:off x="266351" y="1487030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Кудесница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33,6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Кудесница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Кудесница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062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2011471" y="949531"/>
            <a:ext cx="1" cy="186262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051"/>
            <a:ext cx="4140460" cy="620549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  <a:endParaRPr lang="ru-RU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78580" y="548680"/>
            <a:ext cx="2397263" cy="3770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Кудесница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2219395798"/>
              </p:ext>
            </p:extLst>
          </p:nvPr>
        </p:nvGraphicFramePr>
        <p:xfrm>
          <a:off x="3759816" y="260647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818820022"/>
              </p:ext>
            </p:extLst>
          </p:nvPr>
        </p:nvGraphicFramePr>
        <p:xfrm>
          <a:off x="3759816" y="3153986"/>
          <a:ext cx="5337531" cy="325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39552" y="1159644"/>
            <a:ext cx="3006994" cy="5623921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Северо-Казахстанская область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Омская 18                    - 1991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- 1998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                        - 2003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28                    - 2004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- 2015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Алтайская жница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Карагандинская 60    - 2017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Курьер                          - 2020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Алабуга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- 2021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Любава 25                    - 2021 г.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Семёновна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Старт        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Уралосибирская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        - 2021 г.                    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Краюшка                          - 2022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Айгуль                                -  2023 г. </a:t>
            </a: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16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75766"/>
              </p:ext>
            </p:extLst>
          </p:nvPr>
        </p:nvGraphicFramePr>
        <p:xfrm>
          <a:off x="266351" y="1487030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Кудесница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27,1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Кудесница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Кудесница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0857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07703" y="130911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301" y="41862"/>
            <a:ext cx="5337530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3163" y="749406"/>
            <a:ext cx="2808313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Кудесница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583536479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350235034"/>
              </p:ext>
            </p:extLst>
          </p:nvPr>
        </p:nvGraphicFramePr>
        <p:xfrm>
          <a:off x="3635896" y="3108925"/>
          <a:ext cx="5337531" cy="3488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13726" y="1630361"/>
            <a:ext cx="2847186" cy="510975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Саратовская 29            - 1957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19                     - 1989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- 1995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Целинная 3С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  - 1998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Росинка 3                        - 2004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Целина 50                       - 2010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38                       - 2013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2014    - 2017 г.</a:t>
            </a:r>
            <a:r>
              <a:rPr lang="ru-RU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   - 2017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  -  2021 г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Краюшка                         - 2022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                            – 2022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Айгуль                              - 2023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Экада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247                          - 2023 г.    </a:t>
            </a: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697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06814"/>
              </p:ext>
            </p:extLst>
          </p:nvPr>
        </p:nvGraphicFramePr>
        <p:xfrm>
          <a:off x="266351" y="1487030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Таймас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Кудесница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Кудесница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Кудесница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085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39235" y="115756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7400" y="18437"/>
            <a:ext cx="5238581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51077" y="626600"/>
            <a:ext cx="2808313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Катунь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2718894115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393229191"/>
              </p:ext>
            </p:extLst>
          </p:nvPr>
        </p:nvGraphicFramePr>
        <p:xfrm>
          <a:off x="3635896" y="3108925"/>
          <a:ext cx="5337531" cy="3488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683570" y="1487593"/>
            <a:ext cx="2304249" cy="4986017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9         - 1994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20     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Казахстанская 25       - 1997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29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30  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Любава                         - 2003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22     - 2004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Степная волна              - 2016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Умай        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Дива                             - 2016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30 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Оскемен                         - 2017 г.          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Августина                 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 2014   - 2017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  <a:r>
              <a:rPr lang="ru-RU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- 2021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Айгуль                         - 2023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43                    - 2024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Тингер                          - 2024 г.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863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558541"/>
              </p:ext>
            </p:extLst>
          </p:nvPr>
        </p:nvGraphicFramePr>
        <p:xfrm>
          <a:off x="266351" y="1487030"/>
          <a:ext cx="8712968" cy="27813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Катунь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91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34,0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Катунь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Катунь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272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2011471" y="949531"/>
            <a:ext cx="1" cy="186262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051"/>
            <a:ext cx="4140460" cy="620549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  <a:endParaRPr lang="ru-RU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78580" y="548680"/>
            <a:ext cx="2397263" cy="3770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Катунь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1686528911"/>
              </p:ext>
            </p:extLst>
          </p:nvPr>
        </p:nvGraphicFramePr>
        <p:xfrm>
          <a:off x="3759816" y="260647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541232250"/>
              </p:ext>
            </p:extLst>
          </p:nvPr>
        </p:nvGraphicFramePr>
        <p:xfrm>
          <a:off x="3759816" y="3153986"/>
          <a:ext cx="5337531" cy="325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39552" y="1159644"/>
            <a:ext cx="3006994" cy="5623921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Северо-Казахстанская область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Омская 18                    - 1991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- 1998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                        - 2003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28                    - 2004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- 2015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Алтайская жница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Карагандинская 60    - 2017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Курьер                          - 2020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Алабуга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- 2021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Любава 25                      - 2021 г.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Семёновна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Старт        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Уралосибирская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        - 2021 г.                    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Краюшка                          - 2022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Айгуль                             -  2023 г. </a:t>
            </a: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218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94099"/>
              </p:ext>
            </p:extLst>
          </p:nvPr>
        </p:nvGraphicFramePr>
        <p:xfrm>
          <a:off x="266351" y="1487030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Катунь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12,1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27,1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Кудесница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Катунь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776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07703" y="130911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301" y="41862"/>
            <a:ext cx="5337530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3163" y="749406"/>
            <a:ext cx="2808313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Катунь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557981591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240545094"/>
              </p:ext>
            </p:extLst>
          </p:nvPr>
        </p:nvGraphicFramePr>
        <p:xfrm>
          <a:off x="3635896" y="3108925"/>
          <a:ext cx="5337531" cy="3488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13726" y="1630361"/>
            <a:ext cx="2847186" cy="510975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Саратовская 29            - 1957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19                     - 1989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- 1995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Целинная 3С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  - 1998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Росинка 3                        - 2004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Целина 50                       - 2010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38                       - 2013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2014    - 2017 г.</a:t>
            </a:r>
            <a:r>
              <a:rPr lang="ru-RU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   - 2017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  -  2021 г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Краюшка                         - 2022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                            – 2022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Айгуль                              - 2023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Экада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247                          - 2023 г.    </a:t>
            </a: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13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973354"/>
              </p:ext>
            </p:extLst>
          </p:nvPr>
        </p:nvGraphicFramePr>
        <p:xfrm>
          <a:off x="266351" y="1487030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Таймас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Катунь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Катунь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Катунь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730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8" y="61150"/>
            <a:ext cx="571855" cy="836712"/>
          </a:xfrm>
          <a:prstGeom prst="rect">
            <a:avLst/>
          </a:prstGeom>
        </p:spPr>
      </p:pic>
      <p:sp>
        <p:nvSpPr>
          <p:cNvPr id="8" name="Oval 15"/>
          <p:cNvSpPr>
            <a:spLocks noChangeArrowheads="1"/>
          </p:cNvSpPr>
          <p:nvPr/>
        </p:nvSpPr>
        <p:spPr bwMode="auto">
          <a:xfrm flipH="1">
            <a:off x="537446" y="913341"/>
            <a:ext cx="2736302" cy="504753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Катунь</a:t>
            </a:r>
          </a:p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165462" y="1829925"/>
            <a:ext cx="3542442" cy="479633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Шығыс</a:t>
            </a: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endParaRPr lang="ru-RU" sz="1600" b="1" u="sng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Восточно</a:t>
            </a: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Казахстанская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Саратовская 29                  - 1957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Кутулукская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    - 1982 г. </a:t>
            </a: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Карабалыкская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92           - 1997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Алем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                  - 2006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                                   - 2006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Алтайская 325                     - 2006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Наргиз                                  – 2011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38                            – 2013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Карагандинская 30             - 2015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Уралосибирская</a:t>
            </a: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                 - 2016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37                              - 2016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Карагандинская 60              –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Оскемен                                   - 2017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Дарья                                       - 2017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Курьер                                    – 2020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Иртыш 17                               – 2020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b="1" u="sng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Барыс</a:t>
            </a:r>
            <a:r>
              <a:rPr lang="ru-RU" sz="16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– 2020 г. </a:t>
            </a:r>
          </a:p>
          <a:p>
            <a:pPr marL="0" indent="0" algn="ctr">
              <a:buNone/>
            </a:pPr>
            <a:r>
              <a:rPr lang="ru-RU" sz="16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1905597" y="1491952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37303570"/>
              </p:ext>
            </p:extLst>
          </p:nvPr>
        </p:nvGraphicFramePr>
        <p:xfrm>
          <a:off x="4214064" y="3140968"/>
          <a:ext cx="4464496" cy="351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F6DBB70-9BC7-44F4-B0F4-CF6CE718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5" y="66200"/>
            <a:ext cx="5544618" cy="504754"/>
          </a:xfrm>
        </p:spPr>
        <p:txBody>
          <a:bodyPr>
            <a:noAutofit/>
          </a:bodyPr>
          <a:lstStyle/>
          <a:p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A558C8D9-E7B2-48D5-8885-E12719C6CB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0801484"/>
              </p:ext>
            </p:extLst>
          </p:nvPr>
        </p:nvGraphicFramePr>
        <p:xfrm>
          <a:off x="3887922" y="522259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618185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02333"/>
            <a:ext cx="571855" cy="83671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930368-BC4E-4F18-8332-981F7076DA82}"/>
              </a:ext>
            </a:extLst>
          </p:cNvPr>
          <p:cNvSpPr/>
          <p:nvPr/>
        </p:nvSpPr>
        <p:spPr>
          <a:xfrm>
            <a:off x="790002" y="438880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Катунь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FC6ED74-CF5F-4E1A-BE14-4551538CA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184119"/>
              </p:ext>
            </p:extLst>
          </p:nvPr>
        </p:nvGraphicFramePr>
        <p:xfrm>
          <a:off x="215516" y="1734102"/>
          <a:ext cx="8712968" cy="30092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Барыс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Катунь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25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6657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07703" y="130911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301" y="41862"/>
            <a:ext cx="5337530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3163" y="749406"/>
            <a:ext cx="2808313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Патриция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1994189621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3027573707"/>
              </p:ext>
            </p:extLst>
          </p:nvPr>
        </p:nvGraphicFramePr>
        <p:xfrm>
          <a:off x="3635896" y="2996953"/>
          <a:ext cx="5337531" cy="36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13726" y="1630361"/>
            <a:ext cx="2847186" cy="510975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Саратовская 29            - 1957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19                     - 1989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- 1995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Целинная 3С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  - 1998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Росинка 3                        - 2004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Целина 50                       - 2010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38                       - 2013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2014    - 2017 г.</a:t>
            </a:r>
            <a:r>
              <a:rPr lang="ru-RU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   - 2017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  -  2021 г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Краюшка                         - 2022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                            – 2022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Айгуль                              - 2023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Экада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247                          - 2023 г.    </a:t>
            </a: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821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57894"/>
              </p:ext>
            </p:extLst>
          </p:nvPr>
        </p:nvGraphicFramePr>
        <p:xfrm>
          <a:off x="266351" y="1487030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Таймас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Патриция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Патриция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Патриция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56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07703" y="130911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301" y="41862"/>
            <a:ext cx="5337530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3162" y="749406"/>
            <a:ext cx="2958695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СЛБ-08-0008.008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4191900876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626818426"/>
              </p:ext>
            </p:extLst>
          </p:nvPr>
        </p:nvGraphicFramePr>
        <p:xfrm>
          <a:off x="3635896" y="2996953"/>
          <a:ext cx="5337531" cy="36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13726" y="1630361"/>
            <a:ext cx="2847186" cy="510975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Саратовская 29            - 1957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19                     - 1989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- 1995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Целинная 3С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  - 1998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Росинка 3                        - 2004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Целина 50                       - 2010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38                       - 2013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2014    - 2017 г.</a:t>
            </a:r>
            <a:r>
              <a:rPr lang="ru-RU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   - 2017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  -  2021 г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Краюшка                         - 2022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                            – 2022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Айгуль                              - 2023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Экада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247                          - 2023 г.    </a:t>
            </a: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635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491265"/>
              </p:ext>
            </p:extLst>
          </p:nvPr>
        </p:nvGraphicFramePr>
        <p:xfrm>
          <a:off x="176013" y="1558258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Таймас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СЛБ-08-0008.008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28,3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СЛБ-08-0008.008</a:t>
            </a:r>
          </a:p>
          <a:p>
            <a:pPr algn="ctr"/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СЛБ-08-0008.008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5354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  <a:endCxn id="10" idx="0"/>
          </p:cNvCxnSpPr>
          <p:nvPr/>
        </p:nvCxnSpPr>
        <p:spPr>
          <a:xfrm>
            <a:off x="1939237" y="1157565"/>
            <a:ext cx="24567" cy="533949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7400" y="18437"/>
            <a:ext cx="5238581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51074" y="626600"/>
            <a:ext cx="3156825" cy="65606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СЛБ-08-0008.008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348785948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024603867"/>
              </p:ext>
            </p:extLst>
          </p:nvPr>
        </p:nvGraphicFramePr>
        <p:xfrm>
          <a:off x="3635896" y="3108925"/>
          <a:ext cx="5337531" cy="3488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811679" y="1691514"/>
            <a:ext cx="2304249" cy="4986017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9         - 1994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20     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Казахстанская 25       - 1997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29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30  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Любава                         - 2003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22     - 2004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Степная волна              - 2016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Умай        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Дива                             - 2016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30 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Оскемен                         - 2017 г.          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Августина                 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 2014   - 2017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  <a:r>
              <a:rPr lang="ru-RU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- 2021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Айгуль                         - 2023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43                    - 2024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Тингер                          - 2024 г.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029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637424"/>
              </p:ext>
            </p:extLst>
          </p:nvPr>
        </p:nvGraphicFramePr>
        <p:xfrm>
          <a:off x="168573" y="1653876"/>
          <a:ext cx="8712968" cy="27813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СЛБ-08-0008.008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91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16,2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38,8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СЛБ-08-0008.008</a:t>
            </a:r>
          </a:p>
          <a:p>
            <a:pPr algn="ctr"/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СЛБ-08-0008.008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628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07703" y="130911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301" y="41862"/>
            <a:ext cx="5337530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3162" y="749406"/>
            <a:ext cx="2958695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Калисперо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3017459936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362449619"/>
              </p:ext>
            </p:extLst>
          </p:nvPr>
        </p:nvGraphicFramePr>
        <p:xfrm>
          <a:off x="3635896" y="2996953"/>
          <a:ext cx="5337531" cy="36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13726" y="1630361"/>
            <a:ext cx="2847186" cy="510975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Саратовская 29            - 1957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19                     - 1989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- 1995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Целинная 3С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  - 1998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Росинка 3                        - 2004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Целина 50                       - 2010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38                       - 2013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2014    - 2017 г.</a:t>
            </a:r>
            <a:r>
              <a:rPr lang="ru-RU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   - 2017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  -  2021 г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Краюшка                         - 2022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                            – 2022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Айгуль                              - 2023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Экада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247                          - 2023 г.    </a:t>
            </a: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787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46227"/>
              </p:ext>
            </p:extLst>
          </p:nvPr>
        </p:nvGraphicFramePr>
        <p:xfrm>
          <a:off x="176013" y="1558258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Таймас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Калисперо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31,7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Калисперо</a:t>
            </a:r>
            <a:endParaRPr lang="ru-RU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Калисперо</a:t>
            </a:r>
            <a:endParaRPr lang="ru-RU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3317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39235" y="115756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7400" y="18437"/>
            <a:ext cx="5238581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5078" y="649872"/>
            <a:ext cx="2808313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Таймас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1017560208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2998003324"/>
              </p:ext>
            </p:extLst>
          </p:nvPr>
        </p:nvGraphicFramePr>
        <p:xfrm>
          <a:off x="3635896" y="3108925"/>
          <a:ext cx="5337531" cy="3488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683570" y="1487593"/>
            <a:ext cx="2304249" cy="4986017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Костанайская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9         - 1994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20                    - 1996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Казахстанская 25       - 1997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29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30                      - 2002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Любава                         - 2003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22     - 2004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Степная волна              - 2016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Умай        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Дива                             - 2016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30      - 2015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Оскемен                         - 2017 г.          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Августина                     - 2017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 2014   - 2017 г.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  <a:r>
              <a:rPr lang="ru-RU" sz="1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0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- 2021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Айгуль                         - 2023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43                    - 2024 г.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kk-KZ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Тингер                          - 2024 г. </a:t>
            </a:r>
            <a:endParaRPr lang="ru-RU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871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568435"/>
              </p:ext>
            </p:extLst>
          </p:nvPr>
        </p:nvGraphicFramePr>
        <p:xfrm>
          <a:off x="266351" y="1487030"/>
          <a:ext cx="8712968" cy="27813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Таймас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91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Таймас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2963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2011471" y="949531"/>
            <a:ext cx="1" cy="186262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051"/>
            <a:ext cx="4140460" cy="620549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  <a:endParaRPr lang="ru-RU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78580" y="548680"/>
            <a:ext cx="2397263" cy="3770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Таймас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145247334"/>
              </p:ext>
            </p:extLst>
          </p:nvPr>
        </p:nvGraphicFramePr>
        <p:xfrm>
          <a:off x="3759816" y="260647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3016413938"/>
              </p:ext>
            </p:extLst>
          </p:nvPr>
        </p:nvGraphicFramePr>
        <p:xfrm>
          <a:off x="3759816" y="3153986"/>
          <a:ext cx="5337531" cy="325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39552" y="1159644"/>
            <a:ext cx="3006994" cy="5623921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Северо-Казахстанская область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Омская 18                    - 1991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- 1998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                        - 2003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28                    - 2004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- 2015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Алтайская жница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Карагандинская 60    - 2017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Курьер                          - 2020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Алабуга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- 2021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Любава 25                      - 2021 г.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Семёновна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Старт        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Уралосибирская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        - 2021 г.                    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Краюшка                          - 2022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Айгуль                             -  2023 г. </a:t>
            </a: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353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864291"/>
              </p:ext>
            </p:extLst>
          </p:nvPr>
        </p:nvGraphicFramePr>
        <p:xfrm>
          <a:off x="266351" y="1487030"/>
          <a:ext cx="8712968" cy="27813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Таймас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91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Таймас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8100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 flipH="1">
            <a:off x="1907703" y="1309115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301" y="41862"/>
            <a:ext cx="5337530" cy="693172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533162" y="749406"/>
            <a:ext cx="2958695" cy="53096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Ликамеро</a:t>
            </a:r>
            <a:endParaRPr lang="ru-RU" sz="20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3656139642"/>
              </p:ext>
            </p:extLst>
          </p:nvPr>
        </p:nvGraphicFramePr>
        <p:xfrm>
          <a:off x="3883738" y="215588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3121769174"/>
              </p:ext>
            </p:extLst>
          </p:nvPr>
        </p:nvGraphicFramePr>
        <p:xfrm>
          <a:off x="3635896" y="2996953"/>
          <a:ext cx="5337531" cy="36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13726" y="1630361"/>
            <a:ext cx="2847186" cy="5109759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Акмолинская область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Саратовская 29            - 1957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19                     - 1989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- 1995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Целинная 3С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  - 1996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  - 1998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Росинка 3                        - 2004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Целина 50                       - 2010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38                       - 2013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   - 2015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Алтайская жница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    - 2016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Шортандинская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2014    - 2017 г.</a:t>
            </a:r>
            <a:r>
              <a:rPr lang="ru-RU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60       - 2017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- 2018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25                      -  2021 г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Краюшка                         - 2022 г.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3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Таймас                             – 2022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Айгуль                              - 2023 г.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Экада</a:t>
            </a:r>
            <a:r>
              <a:rPr lang="ru-RU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247                          - 2023 г.    </a:t>
            </a: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29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304098"/>
              </p:ext>
            </p:extLst>
          </p:nvPr>
        </p:nvGraphicFramePr>
        <p:xfrm>
          <a:off x="176013" y="1558258"/>
          <a:ext cx="8712968" cy="28151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Таймас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Ликамеро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12,9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25,4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Ликамеро</a:t>
            </a:r>
            <a:endParaRPr lang="ru-RU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Ликамеро</a:t>
            </a:r>
            <a:endParaRPr lang="ru-RU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681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2011471" y="949531"/>
            <a:ext cx="1" cy="186262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051"/>
            <a:ext cx="4140460" cy="620549"/>
          </a:xfrm>
        </p:spPr>
        <p:txBody>
          <a:bodyPr>
            <a:noAutofit/>
          </a:bodyPr>
          <a:lstStyle/>
          <a:p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</a:t>
            </a:r>
            <a:endParaRPr lang="ru-RU" sz="1800" b="1" dirty="0">
              <a:solidFill>
                <a:srgbClr val="190CC4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878580" y="548680"/>
            <a:ext cx="2397263" cy="3770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Ликамеро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38346367"/>
              </p:ext>
            </p:extLst>
          </p:nvPr>
        </p:nvGraphicFramePr>
        <p:xfrm>
          <a:off x="3759816" y="260647"/>
          <a:ext cx="5089689" cy="2938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578311938"/>
              </p:ext>
            </p:extLst>
          </p:nvPr>
        </p:nvGraphicFramePr>
        <p:xfrm>
          <a:off x="3759816" y="3153986"/>
          <a:ext cx="5337531" cy="325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539552" y="1159644"/>
            <a:ext cx="3006994" cy="5623921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Северо-Казахстанская область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Омская 18                    - 1991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- 1995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Лютесценс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               - 1996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Акмола 2                      - 1998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Любава                         - 2003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28                    - 2004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Асыл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                   - 2015 г.</a:t>
            </a:r>
          </a:p>
          <a:p>
            <a:pPr marL="0" indent="0" algn="ctr">
              <a:buNone/>
            </a:pP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Карабалыкская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    - 2015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Карагандинская 31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Мелодия                       - 2016 г.</a:t>
            </a:r>
          </a:p>
          <a:p>
            <a:pPr marL="0" indent="0" algn="ctr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Фантазия               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Алтайская жница       - 2016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Карагандинская 60    - 2017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Квинтус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Айна  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Ламис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- 2018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Курьер                          - 2020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Алабуга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- 2021 г.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Любава 25                      - 2021 г.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Семёновна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Старт                             - 2021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Уралосибирская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        - 2021 г.                    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Краюшка                          - 2022 г.</a:t>
            </a: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Айгуль                             -  2023 г. </a:t>
            </a: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503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130447" y="1836942"/>
          <a:ext cx="6984776" cy="225778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181965409"/>
                    </a:ext>
                  </a:extLst>
                </a:gridCol>
                <a:gridCol w="2214940">
                  <a:extLst>
                    <a:ext uri="{9D8B030D-6E8A-4147-A177-3AD203B41FA5}">
                      <a16:colId xmlns:a16="http://schemas.microsoft.com/office/drawing/2014/main" val="2564217098"/>
                    </a:ext>
                  </a:extLst>
                </a:gridCol>
                <a:gridCol w="1385460">
                  <a:extLst>
                    <a:ext uri="{9D8B030D-6E8A-4147-A177-3AD203B41FA5}">
                      <a16:colId xmlns:a16="http://schemas.microsoft.com/office/drawing/2014/main" val="1907045928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</a:t>
                      </a:r>
                      <a:r>
                        <a:rPr lang="en-US" sz="1400" b="1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Любава 5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Гранни</a:t>
                      </a:r>
                      <a:endParaRPr lang="ru-RU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734542"/>
                  </a:ext>
                </a:extLst>
              </a:tr>
              <a:tr h="3320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 зерна,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k-KZ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2603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 в зерне,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29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клейковины, %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40,6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597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клейковины, ед. ИДК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1481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хлеба, мл</a:t>
                      </a:r>
                      <a:endParaRPr lang="ru-RU" sz="1400" b="1" kern="0" dirty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39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хлебопекарная оценка, балл</a:t>
                      </a:r>
                      <a:endParaRPr lang="ru-RU" sz="1400" b="1" kern="0">
                        <a:effectLst/>
                        <a:latin typeface="Times New Roman" panose="02020603050405020304" pitchFamily="18" charset="0"/>
                        <a:ea typeface="Arial Unicode M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45448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840"/>
              </p:ext>
            </p:extLst>
          </p:nvPr>
        </p:nvGraphicFramePr>
        <p:xfrm>
          <a:off x="266351" y="1487030"/>
          <a:ext cx="8712968" cy="27813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Айна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Ликамеро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91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2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29,9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5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156383-D1F2-45A4-A0B9-09F456B2D42C}"/>
              </a:ext>
            </a:extLst>
          </p:cNvPr>
          <p:cNvSpPr/>
          <p:nvPr/>
        </p:nvSpPr>
        <p:spPr>
          <a:xfrm>
            <a:off x="728468" y="187431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Ликамеро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Ликамеро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2133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2181110" y="874302"/>
            <a:ext cx="1" cy="218919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9470" y="98461"/>
            <a:ext cx="5040564" cy="436104"/>
          </a:xfrm>
        </p:spPr>
        <p:txBody>
          <a:bodyPr>
            <a:noAutofit/>
          </a:bodyPr>
          <a:lstStyle/>
          <a:p>
            <a:pPr algn="ctr"/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ортадан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кеш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6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среднепоздняя группа)</a:t>
            </a:r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 flipH="1">
            <a:off x="658901" y="626600"/>
            <a:ext cx="3044416" cy="25178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ВЕКТОР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883631320"/>
              </p:ext>
            </p:extLst>
          </p:nvPr>
        </p:nvGraphicFramePr>
        <p:xfrm>
          <a:off x="4585738" y="3375831"/>
          <a:ext cx="4286107" cy="3383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Объект 11"/>
          <p:cNvSpPr>
            <a:spLocks noGrp="1"/>
          </p:cNvSpPr>
          <p:nvPr>
            <p:ph sz="half" idx="1"/>
          </p:nvPr>
        </p:nvSpPr>
        <p:spPr>
          <a:xfrm>
            <a:off x="604088" y="1072080"/>
            <a:ext cx="3044416" cy="2508817"/>
          </a:xfr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Шығыс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облысы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1400" b="1" u="sng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Восточно</a:t>
            </a:r>
            <a:r>
              <a:rPr lang="ru-RU" sz="1400" b="1" u="sng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Казахстанская область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Вера        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1985 г.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Ульбинка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25                       - 1989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Омская 18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1991 г.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Авангард    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2005 г.  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Самал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- 2007 г. </a:t>
            </a:r>
          </a:p>
          <a:p>
            <a:pPr marL="0" indent="0">
              <a:buNone/>
            </a:pPr>
            <a:r>
              <a:rPr lang="ru-RU" sz="14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Ляззат</a:t>
            </a:r>
            <a:r>
              <a:rPr lang="ru-RU" sz="1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- 2011 г.</a:t>
            </a:r>
          </a:p>
          <a:p>
            <a:pPr marL="0" indent="0">
              <a:buNone/>
            </a:pPr>
            <a:r>
              <a:rPr lang="ru-RU" sz="1400" b="1" dirty="0" err="1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Голубовчанка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kk-KZ" sz="1400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– </a:t>
            </a: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 г. 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90C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Солнечная                             - 2019 г. </a:t>
            </a:r>
          </a:p>
          <a:p>
            <a:pPr marL="0" indent="0">
              <a:buNone/>
            </a:pPr>
            <a:endParaRPr lang="ru-RU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3" y="98930"/>
            <a:ext cx="571855" cy="836712"/>
          </a:xfrm>
          <a:prstGeom prst="rect">
            <a:avLst/>
          </a:prstGeom>
        </p:spPr>
      </p:pic>
      <p:graphicFrame>
        <p:nvGraphicFramePr>
          <p:cNvPr id="13" name="Диаграмма 12"/>
          <p:cNvGraphicFramePr/>
          <p:nvPr>
            <p:extLst>
              <p:ext uri="{D42A27DB-BD31-4B8C-83A1-F6EECF244321}">
                <p14:modId xmlns:p14="http://schemas.microsoft.com/office/powerpoint/2010/main" val="2505647881"/>
              </p:ext>
            </p:extLst>
          </p:nvPr>
        </p:nvGraphicFramePr>
        <p:xfrm>
          <a:off x="4239079" y="86111"/>
          <a:ext cx="4712336" cy="326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F0B7031-6B55-44F3-844F-0B6374AB1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6478151"/>
              </p:ext>
            </p:extLst>
          </p:nvPr>
        </p:nvGraphicFramePr>
        <p:xfrm>
          <a:off x="272155" y="3558216"/>
          <a:ext cx="4340562" cy="3039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2147565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04" y="215999"/>
            <a:ext cx="571855" cy="836712"/>
          </a:xfrm>
          <a:prstGeom prst="rect">
            <a:avLst/>
          </a:prstGeom>
        </p:spPr>
      </p:pic>
      <p:pic>
        <p:nvPicPr>
          <p:cNvPr id="6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0571">
            <a:off x="2331869" y="2307874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617163"/>
              </p:ext>
            </p:extLst>
          </p:nvPr>
        </p:nvGraphicFramePr>
        <p:xfrm>
          <a:off x="215516" y="1734102"/>
          <a:ext cx="8712968" cy="2965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Ляззат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Вектор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65,0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72,0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15,5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12,3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2A98AA-EF69-4840-92AA-696B187DE14E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212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8" y="61150"/>
            <a:ext cx="571855" cy="836712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95535" y="91631"/>
            <a:ext cx="5340068" cy="775749"/>
          </a:xfrm>
        </p:spPr>
        <p:txBody>
          <a:bodyPr>
            <a:noAutofit/>
          </a:bodyPr>
          <a:lstStyle/>
          <a:p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жұмсақ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Пшеница мягкая яровая</a:t>
            </a:r>
            <a:br>
              <a:rPr lang="en-US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ортадан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кеш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18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– среднепоздняя  группа)</a:t>
            </a:r>
          </a:p>
        </p:txBody>
      </p:sp>
      <p:sp>
        <p:nvSpPr>
          <p:cNvPr id="8" name="Oval 15"/>
          <p:cNvSpPr>
            <a:spLocks noChangeArrowheads="1"/>
          </p:cNvSpPr>
          <p:nvPr/>
        </p:nvSpPr>
        <p:spPr bwMode="auto">
          <a:xfrm flipH="1">
            <a:off x="348494" y="997604"/>
            <a:ext cx="3401634" cy="414283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7432" tIns="22860" rIns="0" bIns="0" anchor="ctr" upright="1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endParaRPr lang="kk-KZ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 sz="1000"/>
            </a:pPr>
            <a:r>
              <a:rPr lang="kk-KZ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КС Элем</a:t>
            </a:r>
          </a:p>
          <a:p>
            <a:pPr algn="ctr">
              <a:defRPr sz="1000"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946885660"/>
              </p:ext>
            </p:extLst>
          </p:nvPr>
        </p:nvGraphicFramePr>
        <p:xfrm>
          <a:off x="4677797" y="50111"/>
          <a:ext cx="4464496" cy="3198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289028" y="1837594"/>
            <a:ext cx="3745808" cy="296212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0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Павлодар </a:t>
            </a:r>
            <a:r>
              <a:rPr lang="ru-RU" sz="20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endParaRPr lang="ru-RU" sz="2000" b="1" u="sng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0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Павлодарская область</a:t>
            </a:r>
          </a:p>
          <a:p>
            <a:pPr marL="0" indent="0" algn="ctr"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Омская 18                      - 1991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Карагандинская 70     – 1992 г.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Казахстанская 15          – 1993 г. Павлодарская 93           - 1999 г. Секе                                 - 2008г. Кондитерская яровая   - 2015 г. </a:t>
            </a:r>
            <a:r>
              <a:rPr lang="ru-RU" sz="20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Анель</a:t>
            </a:r>
            <a:r>
              <a:rPr lang="ru-RU" sz="20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16                         – 2020 г. 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2049310" y="1444978"/>
            <a:ext cx="1" cy="322494"/>
          </a:xfrm>
          <a:prstGeom prst="straightConnector1">
            <a:avLst/>
          </a:prstGeom>
          <a:ln>
            <a:solidFill>
              <a:srgbClr val="190CC4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Диаграмма 11"/>
          <p:cNvGraphicFramePr/>
          <p:nvPr>
            <p:extLst>
              <p:ext uri="{D42A27DB-BD31-4B8C-83A1-F6EECF244321}">
                <p14:modId xmlns:p14="http://schemas.microsoft.com/office/powerpoint/2010/main" val="4242958596"/>
              </p:ext>
            </p:extLst>
          </p:nvPr>
        </p:nvGraphicFramePr>
        <p:xfrm>
          <a:off x="4362892" y="3512307"/>
          <a:ext cx="4464496" cy="3121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15307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3901">
            <a:off x="1627153" y="1368091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02333"/>
            <a:ext cx="571855" cy="83671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3AB0D0-3ED5-4702-8965-E0E3A751AFF4}"/>
              </a:ext>
            </a:extLst>
          </p:cNvPr>
          <p:cNvSpPr/>
          <p:nvPr/>
        </p:nvSpPr>
        <p:spPr>
          <a:xfrm>
            <a:off x="803973" y="121885"/>
            <a:ext cx="81605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жұмсақ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КС Элем 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мягкой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КС Элем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6128E6C-54F1-48EF-8FA8-0DB436248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982949"/>
              </p:ext>
            </p:extLst>
          </p:nvPr>
        </p:nvGraphicFramePr>
        <p:xfrm>
          <a:off x="251520" y="1933559"/>
          <a:ext cx="8712968" cy="29650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25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Анель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КС Элем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61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0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 в муке, %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Объемный выход хлеба, см3 на 100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муки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2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2309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7803" y="2047363"/>
            <a:ext cx="3586291" cy="454999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Қостанай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Костанайская область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139              - 1982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52              -  2000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182              - 2004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12               - 2004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Жемчужина Сибири        - 2008 г.  </a:t>
            </a:r>
            <a:r>
              <a:rPr lang="kk-KZ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kk-KZ" sz="1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Алтын дала                       - 2010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Асангали                           - 2015 г.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Солнечная 573                  - 2016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Шарифа                             - 2018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207            -  2020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Алтын орда                       - 2024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Дурофинус                        -  2024 г.  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454297859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Ясенка</a:t>
            </a:r>
          </a:p>
        </p:txBody>
      </p:sp>
    </p:spTree>
    <p:extLst>
      <p:ext uri="{BB962C8B-B14F-4D97-AF65-F5344CB8AC3E}">
        <p14:creationId xmlns:p14="http://schemas.microsoft.com/office/powerpoint/2010/main" val="3926099605"/>
      </p:ext>
    </p:extLst>
  </p:cSld>
  <p:clrMapOvr>
    <a:masterClrMapping/>
  </p:clrMapOvr>
  <p:transition spd="slow">
    <p:wip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62146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Алтын дала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Алтын дала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845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8166" y="2116016"/>
            <a:ext cx="2991771" cy="448133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Солтүстік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Северо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Казахстанская область 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Алтайка                             - 1981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Дамсинская 90                 -  1995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янтарная             - 2005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Дамсинская янтарная     - 2008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Жемчужина Сибири        - 2008 г.  </a:t>
            </a:r>
            <a:r>
              <a:rPr lang="kk-KZ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Алтын дала                       - 2010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степная                - 2016 г. 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Солнечная 573                  - 2016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Омский изумруд               - 2016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Шарифа                             - 2018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15               - 2019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Янтарная 60                      - 2020 г.</a:t>
            </a:r>
          </a:p>
          <a:p>
            <a:pPr marL="0" indent="0">
              <a:buNone/>
            </a:pPr>
            <a:r>
              <a:rPr lang="kk-KZ" sz="1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Костанайская 207            -  2020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Дамскинская 20-17           - 2022 г.</a:t>
            </a: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1424732703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Ясенка</a:t>
            </a:r>
          </a:p>
        </p:txBody>
      </p:sp>
    </p:spTree>
    <p:extLst>
      <p:ext uri="{BB962C8B-B14F-4D97-AF65-F5344CB8AC3E}">
        <p14:creationId xmlns:p14="http://schemas.microsoft.com/office/powerpoint/2010/main" val="764519060"/>
      </p:ext>
    </p:extLst>
  </p:cSld>
  <p:clrMapOvr>
    <a:masterClrMapping/>
  </p:clrMapOvr>
  <p:transition spd="slow">
    <p:wip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80200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016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7803" y="2047363"/>
            <a:ext cx="3586291" cy="260577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Ақмола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Акмолинская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область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139              - 1982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Лавина                                - 2015 г.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Шарифа                             - 2018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15               - 2019 г.</a:t>
            </a:r>
          </a:p>
          <a:p>
            <a:pPr marL="0" indent="0">
              <a:buNone/>
            </a:pPr>
            <a:r>
              <a:rPr lang="kk-KZ" sz="1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Костанайская 207            -  2020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Омский коралл                 - 2024 г.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4139173808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Ясенка</a:t>
            </a:r>
          </a:p>
        </p:txBody>
      </p:sp>
    </p:spTree>
    <p:extLst>
      <p:ext uri="{BB962C8B-B14F-4D97-AF65-F5344CB8AC3E}">
        <p14:creationId xmlns:p14="http://schemas.microsoft.com/office/powerpoint/2010/main" val="500407175"/>
      </p:ext>
    </p:extLst>
  </p:cSld>
  <p:clrMapOvr>
    <a:masterClrMapping/>
  </p:clrMapOvr>
  <p:transition spd="slow">
    <p:wip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347325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89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6461" y="1173815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 flipH="1">
            <a:off x="1835696" y="2188732"/>
            <a:ext cx="1" cy="46149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214607" y="2650222"/>
            <a:ext cx="3586291" cy="96465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Ұлытау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/ Область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Ұлытау</a:t>
            </a:r>
            <a:endParaRPr lang="ru-RU" sz="1800" b="1" u="sng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3543074390"/>
              </p:ext>
            </p:extLst>
          </p:nvPr>
        </p:nvGraphicFramePr>
        <p:xfrm>
          <a:off x="4050115" y="1400996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1409217"/>
            <a:ext cx="3835508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Ясенка </a:t>
            </a:r>
          </a:p>
          <a:p>
            <a:pPr algn="ctr"/>
            <a:r>
              <a:rPr lang="ru-RU" sz="12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(стандарт </a:t>
            </a:r>
            <a:r>
              <a:rPr lang="ru-RU" sz="12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қарастырылмаған</a:t>
            </a:r>
            <a:r>
              <a:rPr lang="ru-RU" sz="12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без стандарта )</a:t>
            </a:r>
          </a:p>
        </p:txBody>
      </p:sp>
    </p:spTree>
    <p:extLst>
      <p:ext uri="{BB962C8B-B14F-4D97-AF65-F5344CB8AC3E}">
        <p14:creationId xmlns:p14="http://schemas.microsoft.com/office/powerpoint/2010/main" val="781998236"/>
      </p:ext>
    </p:extLst>
  </p:cSld>
  <p:clrMapOvr>
    <a:masterClrMapping/>
  </p:clrMapOvr>
  <p:transition spd="slow">
    <p:wip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276725"/>
              </p:ext>
            </p:extLst>
          </p:nvPr>
        </p:nvGraphicFramePr>
        <p:xfrm>
          <a:off x="436073" y="1356014"/>
          <a:ext cx="8544487" cy="532786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Массимо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Меридио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Массимо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Меридио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840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6461" y="1173815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 flipH="1">
            <a:off x="1835696" y="2188732"/>
            <a:ext cx="1" cy="46149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214607" y="2650222"/>
            <a:ext cx="3586291" cy="96465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Қарағанды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Карагандинская область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1454540569"/>
              </p:ext>
            </p:extLst>
          </p:nvPr>
        </p:nvGraphicFramePr>
        <p:xfrm>
          <a:off x="4050115" y="1400996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1409217"/>
            <a:ext cx="3835508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Ясенка </a:t>
            </a:r>
          </a:p>
          <a:p>
            <a:pPr algn="ctr"/>
            <a:r>
              <a:rPr lang="ru-RU" sz="12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(стандарт </a:t>
            </a:r>
            <a:r>
              <a:rPr lang="ru-RU" sz="12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қарастырылмаған</a:t>
            </a:r>
            <a:r>
              <a:rPr lang="ru-RU" sz="12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без стандарта )</a:t>
            </a:r>
          </a:p>
        </p:txBody>
      </p:sp>
    </p:spTree>
    <p:extLst>
      <p:ext uri="{BB962C8B-B14F-4D97-AF65-F5344CB8AC3E}">
        <p14:creationId xmlns:p14="http://schemas.microsoft.com/office/powerpoint/2010/main" val="1175443605"/>
      </p:ext>
    </p:extLst>
  </p:cSld>
  <p:clrMapOvr>
    <a:masterClrMapping/>
  </p:clrMapOvr>
  <p:transition spd="slow">
    <p:wip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36073" y="1356014"/>
          <a:ext cx="8544487" cy="532786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Массимо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Меридио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Массимо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Меридио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</a:t>
                      </a:r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435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7803" y="2047363"/>
            <a:ext cx="3586291" cy="138163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Батыс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Западно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Казахстанская область </a:t>
            </a:r>
          </a:p>
          <a:p>
            <a:pPr marL="0" indent="0">
              <a:buNone/>
            </a:pPr>
            <a:r>
              <a:rPr lang="kk-KZ" sz="1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Каргала 69             -  2012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Янтарная 60                      - 2020 г.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2102518157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Ясенка</a:t>
            </a:r>
          </a:p>
        </p:txBody>
      </p:sp>
    </p:spTree>
    <p:extLst>
      <p:ext uri="{BB962C8B-B14F-4D97-AF65-F5344CB8AC3E}">
        <p14:creationId xmlns:p14="http://schemas.microsoft.com/office/powerpoint/2010/main" val="780452350"/>
      </p:ext>
    </p:extLst>
  </p:cSld>
  <p:clrMapOvr>
    <a:masterClrMapping/>
  </p:clrMapOvr>
  <p:transition spd="slow">
    <p:wip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Ясенка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124761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Каргала 69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Каргала 69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Ясенка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473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7803" y="2047363"/>
            <a:ext cx="3586291" cy="454999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Қостанай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Костанайская область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139              - 1982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52              -  2000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182              - 2004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12               - 2004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Жемчужина Сибири        - 2008 г.  </a:t>
            </a:r>
            <a:r>
              <a:rPr lang="kk-KZ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kk-KZ" sz="1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Алтын дала                       - 2010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Асангали                           - 2015 г.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Солнечная 573                  - 2016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Шарифа                             - 2018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207            -  2020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Алтын орда                       - 2024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Дурофинус                        -  2024 г.  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422273940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Шукшинка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011214"/>
      </p:ext>
    </p:extLst>
  </p:cSld>
  <p:clrMapOvr>
    <a:masterClrMapping/>
  </p:clrMapOvr>
  <p:transition spd="slow">
    <p:wip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Шукшинка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Шукшинка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26899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Алтын дала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Шукшинка</a:t>
                      </a:r>
                      <a:endParaRPr lang="ru-RU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Алтын дала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Шукшинка</a:t>
                      </a:r>
                      <a:endParaRPr lang="ru-RU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658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8166" y="2116016"/>
            <a:ext cx="2991771" cy="448133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Солтүстік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Северо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Казахстанская область 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Алтайка                             - 1981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Дамсинская 90                 -  1995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янтарная             - 2005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Дамсинская янтарная     - 2008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Жемчужина Сибири        - 2008 г.  </a:t>
            </a:r>
            <a:r>
              <a:rPr lang="kk-KZ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Алтын дала                       - 2010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Омская степная                - 2016 г. 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Солнечная 573                  - 2016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Омский изумруд               - 2016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Шарифа                             - 2018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15               - 2019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Янтарная 60                      - 2020 г.</a:t>
            </a:r>
          </a:p>
          <a:p>
            <a:pPr marL="0" indent="0">
              <a:buNone/>
            </a:pPr>
            <a:r>
              <a:rPr lang="kk-KZ" sz="14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Костанайская 207            -  2020 г.</a:t>
            </a:r>
          </a:p>
          <a:p>
            <a:pPr marL="0" indent="0">
              <a:buNone/>
            </a:pPr>
            <a:r>
              <a:rPr lang="kk-KZ" sz="1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Дамскинская 20-17           - 2022 г.</a:t>
            </a: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2035613949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Шукшинка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639268"/>
      </p:ext>
    </p:extLst>
  </p:cSld>
  <p:clrMapOvr>
    <a:masterClrMapping/>
  </p:clrMapOvr>
  <p:transition spd="slow">
    <p:wip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Шукшинка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Шукшинка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111568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Шукшинка</a:t>
                      </a:r>
                      <a:endParaRPr lang="ru-RU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Шукшинка</a:t>
                      </a:r>
                      <a:endParaRPr lang="ru-RU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726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7803" y="2047363"/>
            <a:ext cx="3586291" cy="260577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Ақмола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Акмолинская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область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139              - 1982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Лавина                                - 2015 г.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Шарифа                             - 2018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15               - 2019 г.</a:t>
            </a:r>
          </a:p>
          <a:p>
            <a:pPr marL="0" indent="0">
              <a:buNone/>
            </a:pPr>
            <a:r>
              <a:rPr lang="kk-KZ" sz="1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Костанайская 207            -  2020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Омский коралл                 - 2024 г.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863867469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Шукшинка</a:t>
            </a:r>
            <a:endParaRPr lang="ru-RU" sz="2400" b="1" dirty="0">
              <a:solidFill>
                <a:srgbClr val="190CC4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431884"/>
      </p:ext>
    </p:extLst>
  </p:cSld>
  <p:clrMapOvr>
    <a:masterClrMapping/>
  </p:clrMapOvr>
  <p:transition spd="slow">
    <p:wip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Шукшинка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Шукшинка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774065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Шукшинка</a:t>
                      </a:r>
                      <a:endParaRPr lang="ru-RU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Костанайская 207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Шукшинка</a:t>
                      </a:r>
                      <a:endParaRPr lang="ru-RU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dirty="0">
                        <a:solidFill>
                          <a:sysClr val="windowText" lastClr="000000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971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7803" y="2047363"/>
            <a:ext cx="3586291" cy="454999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Қостанай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Костанайская область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139              - 1982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52              -  2000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Безенчукская 182              - 2004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12               - 2004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Жемчужина Сибири        - 2008 г.  </a:t>
            </a:r>
            <a:r>
              <a:rPr lang="kk-KZ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kk-KZ" sz="1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Алтын дала                       - 2010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Асангали                           - 2015 г.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Солнечная 573                  - 2016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Шарифа                             - 2018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Костанайская 207            -  2020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Алтын орда                       - 2024 г.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Дурофинус                        -  2024 г.  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3783679956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орташа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среднеспелая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334764" y="930548"/>
            <a:ext cx="371535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Омский лазурит</a:t>
            </a:r>
          </a:p>
        </p:txBody>
      </p:sp>
    </p:spTree>
    <p:extLst>
      <p:ext uri="{BB962C8B-B14F-4D97-AF65-F5344CB8AC3E}">
        <p14:creationId xmlns:p14="http://schemas.microsoft.com/office/powerpoint/2010/main" val="1615026070"/>
      </p:ext>
    </p:extLst>
  </p:cSld>
  <p:clrMapOvr>
    <a:masterClrMapping/>
  </p:clrMapOvr>
  <p:transition spd="slow">
    <p:wip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Омский лазурит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Омский лазурит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7115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Алтын дала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Омский лазурит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Алтын дала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Омский лазурит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3849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 descr="https://st.depositphotos.com/1744187/1375/i/950/depositphotos_13759814-stock-photo-wheat-e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12274">
            <a:off x="1023418" y="1101807"/>
            <a:ext cx="6432649" cy="42884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ine 29"/>
          <p:cNvSpPr>
            <a:spLocks noChangeShapeType="1"/>
          </p:cNvSpPr>
          <p:nvPr/>
        </p:nvSpPr>
        <p:spPr bwMode="auto">
          <a:xfrm>
            <a:off x="1900747" y="1624501"/>
            <a:ext cx="6956" cy="405180"/>
          </a:xfrm>
          <a:prstGeom prst="line">
            <a:avLst/>
          </a:prstGeom>
          <a:ln>
            <a:solidFill>
              <a:srgbClr val="190CC4"/>
            </a:solidFill>
            <a:headEnd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sp>
        <p:nvSpPr>
          <p:cNvPr id="13" name="Объект 2"/>
          <p:cNvSpPr>
            <a:spLocks noGrp="1"/>
          </p:cNvSpPr>
          <p:nvPr>
            <p:ph sz="half" idx="1"/>
          </p:nvPr>
        </p:nvSpPr>
        <p:spPr>
          <a:xfrm>
            <a:off x="197803" y="2047363"/>
            <a:ext cx="3586291" cy="138163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Солтүстік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Қазақстан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облысы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800" b="1" u="sng" dirty="0" err="1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Северо</a:t>
            </a:r>
            <a:r>
              <a:rPr lang="ru-RU" sz="1800" b="1" u="sng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 Казахстанская область </a:t>
            </a:r>
          </a:p>
          <a:p>
            <a:pPr marL="0" indent="0">
              <a:buNone/>
            </a:pPr>
            <a:r>
              <a:rPr lang="kk-KZ" sz="18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СИД 88                               - 1993 г.</a:t>
            </a:r>
          </a:p>
          <a:p>
            <a:pPr marL="0" indent="0">
              <a:buNone/>
            </a:pPr>
            <a:r>
              <a:rPr lang="kk-KZ" sz="18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Янтарная 150                   -  2022 г.</a:t>
            </a:r>
          </a:p>
          <a:p>
            <a:pPr marL="0" indent="0" algn="ctr">
              <a:buNone/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Диаграмма 8"/>
          <p:cNvGraphicFramePr/>
          <p:nvPr>
            <p:extLst>
              <p:ext uri="{D42A27DB-BD31-4B8C-83A1-F6EECF244321}">
                <p14:modId xmlns:p14="http://schemas.microsoft.com/office/powerpoint/2010/main" val="2566398328"/>
              </p:ext>
            </p:extLst>
          </p:nvPr>
        </p:nvGraphicFramePr>
        <p:xfrm>
          <a:off x="4050121" y="1916832"/>
          <a:ext cx="5040559" cy="383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90329" y="-9760"/>
            <a:ext cx="807524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Жаздық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қатты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бидай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Пшеница твердая яровая</a:t>
            </a:r>
            <a:b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ортадан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кеш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пісетін</a:t>
            </a:r>
            <a:r>
              <a:rPr lang="ru-RU" sz="2400" b="1" dirty="0">
                <a:solidFill>
                  <a:srgbClr val="190CC4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топ - среднепоздняя группа) </a:t>
            </a:r>
          </a:p>
        </p:txBody>
      </p:sp>
      <p:sp>
        <p:nvSpPr>
          <p:cNvPr id="16" name="Овал 15"/>
          <p:cNvSpPr/>
          <p:nvPr/>
        </p:nvSpPr>
        <p:spPr>
          <a:xfrm>
            <a:off x="214607" y="934681"/>
            <a:ext cx="3312367" cy="761758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190CC4"/>
                </a:solidFill>
                <a:latin typeface="Times New Roman" pitchFamily="18" charset="0"/>
                <a:cs typeface="Times New Roman" pitchFamily="18" charset="0"/>
              </a:rPr>
              <a:t>Оазис</a:t>
            </a:r>
          </a:p>
        </p:txBody>
      </p:sp>
    </p:spTree>
    <p:extLst>
      <p:ext uri="{BB962C8B-B14F-4D97-AF65-F5344CB8AC3E}">
        <p14:creationId xmlns:p14="http://schemas.microsoft.com/office/powerpoint/2010/main" val="2994090739"/>
      </p:ext>
    </p:extLst>
  </p:cSld>
  <p:clrMapOvr>
    <a:masterClrMapping/>
  </p:clrMapOvr>
  <p:transition spd="slow">
    <p:wip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73" y="155685"/>
            <a:ext cx="850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Жаздық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бидайдың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Оазис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сортының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физикалық-химиялық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көрсеткіштері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 физико-химических  качеств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яровой твердой пшеницы </a:t>
            </a:r>
            <a:r>
              <a:rPr lang="ru-RU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Оазис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488218"/>
              </p:ext>
            </p:extLst>
          </p:nvPr>
        </p:nvGraphicFramePr>
        <p:xfrm>
          <a:off x="436073" y="1479124"/>
          <a:ext cx="8544487" cy="48873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87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70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Характеристика классов и нормы для твердой пшеницы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Янтарная 150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Оазис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Стекловидность,%  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Содержание белка,%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879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клейковины, % </a:t>
                      </a:r>
                      <a:endParaRPr lang="ru-RU" sz="18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Качество клейковины ед.</a:t>
                      </a:r>
                      <a:r>
                        <a:rPr lang="ru-RU" sz="1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ИДК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12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Шкала</a:t>
                      </a:r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оценки качества макарон из крупки твердых пшениц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63">
                <a:tc rowSpan="2"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Показатели 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в баллах</a:t>
                      </a:r>
                      <a:endParaRPr lang="ru-RU" sz="18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9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Янтарная 150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Оазис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Цвет крупы,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428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крупы, %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63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Общая оценка, балл</a:t>
                      </a:r>
                      <a:endParaRPr lang="ru-RU" sz="1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2" y="1"/>
            <a:ext cx="571855" cy="8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576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553" y="0"/>
            <a:ext cx="9164486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Прямоугольник 6"/>
          <p:cNvSpPr/>
          <p:nvPr/>
        </p:nvSpPr>
        <p:spPr>
          <a:xfrm>
            <a:off x="1403648" y="1412776"/>
            <a:ext cx="691276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</a:t>
            </a:r>
          </a:p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6694845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17967</TotalTime>
  <Words>9917</Words>
  <Application>Microsoft Office PowerPoint</Application>
  <PresentationFormat>Экран (4:3)</PresentationFormat>
  <Paragraphs>2582</Paragraphs>
  <Slides>98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98</vt:i4>
      </vt:variant>
    </vt:vector>
  </HeadingPairs>
  <TitlesOfParts>
    <vt:vector size="102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Жаздық жұмсақ бидай Пшеница мягкая яровая (ерте пісетін топ - раннеспелая группа)</vt:lpstr>
      <vt:lpstr>Презентация PowerPoint</vt:lpstr>
      <vt:lpstr>Жаздық жұмсақ бидай Пшеница мягкая яровая (ерте пісетін топ - раннеспелая группа)</vt:lpstr>
      <vt:lpstr>Презентация PowerPoint</vt:lpstr>
      <vt:lpstr>Жаздық жұмсақ бидай Пшеница мягкая яровая (орташа ерте пісетін топ - среднеранняя группа)</vt:lpstr>
      <vt:lpstr>Презентация PowerPoint</vt:lpstr>
      <vt:lpstr>Жаздық жұмсақ бидай Пшеница мягкая яровая (орташа ерте пісетін топ - среднеранняя группа)</vt:lpstr>
      <vt:lpstr>Презентация PowerPoint</vt:lpstr>
      <vt:lpstr>Жаздық жұмсақ бидай Пшеница мягкая яровая (орташа ерте пісетін топ - среднеранняя группа)</vt:lpstr>
      <vt:lpstr>Презентация PowerPoint</vt:lpstr>
      <vt:lpstr>Жаздық жұмсақ бидай Пшеница мягкая яровая (орташа ерте пісетін топ - среднеранняя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(орташа пісетін топ - среднеспелая группа)</vt:lpstr>
      <vt:lpstr>Презентация PowerPoint</vt:lpstr>
      <vt:lpstr>Жаздық жұмсақ бидай Пшеница мягкая яровая (ортадан кеш пісетін топ - среднепоздняя группа)</vt:lpstr>
      <vt:lpstr>Презентация PowerPoint</vt:lpstr>
      <vt:lpstr>Жаздық жұмсақ бидай Пшеница мягкая яровая (ортадан кеш пісетін топ – среднепоздняя  группа)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Изменения, вносимые в Государственный реестр селекционных достижений,  допущенных к использованию в РК по зернобобовым и масличным  культурам на 2012 год</dc:title>
  <dc:creator>user</dc:creator>
  <cp:lastModifiedBy>admin</cp:lastModifiedBy>
  <cp:revision>1067</cp:revision>
  <cp:lastPrinted>2021-11-19T11:21:40Z</cp:lastPrinted>
  <dcterms:created xsi:type="dcterms:W3CDTF">2011-12-08T04:15:54Z</dcterms:created>
  <dcterms:modified xsi:type="dcterms:W3CDTF">2024-12-05T10:08:51Z</dcterms:modified>
</cp:coreProperties>
</file>