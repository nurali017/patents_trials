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notesMasterIdLst>
    <p:notesMasterId r:id="rId12"/>
  </p:notesMasterIdLst>
  <p:sldIdLst>
    <p:sldId id="258" r:id="rId2"/>
    <p:sldId id="327" r:id="rId3"/>
    <p:sldId id="412" r:id="rId4"/>
    <p:sldId id="413" r:id="rId5"/>
    <p:sldId id="414" r:id="rId6"/>
    <p:sldId id="417" r:id="rId7"/>
    <p:sldId id="422" r:id="rId8"/>
    <p:sldId id="421" r:id="rId9"/>
    <p:sldId id="420" r:id="rId10"/>
    <p:sldId id="292" r:id="rId11"/>
  </p:sldIdLst>
  <p:sldSz cx="9144000" cy="6858000" type="screen4x3"/>
  <p:notesSz cx="6797675" cy="99250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E9A31E0E-FA93-4C91-9241-2F6813AFB4F7}">
          <p14:sldIdLst>
            <p14:sldId id="258"/>
          </p14:sldIdLst>
        </p14:section>
        <p14:section name="Раздел без заголовка" id="{455402D6-9E7E-4375-8BA1-1D0C202A5795}">
          <p14:sldIdLst>
            <p14:sldId id="327"/>
            <p14:sldId id="412"/>
            <p14:sldId id="413"/>
            <p14:sldId id="414"/>
            <p14:sldId id="417"/>
            <p14:sldId id="422"/>
          </p14:sldIdLst>
        </p14:section>
        <p14:section name="Раздел без заголовка" id="{ACAC8D86-B6A0-4611-94AF-67F6B33DF51A}">
          <p14:sldIdLst>
            <p14:sldId id="421"/>
          </p14:sldIdLst>
        </p14:section>
        <p14:section name="Раздел без заголовка" id="{53D47CF8-DB70-4319-AAAC-F13308518D25}">
          <p14:sldIdLst>
            <p14:sldId id="420"/>
            <p14:sldId id="29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609" autoAdjust="0"/>
  </p:normalViewPr>
  <p:slideViewPr>
    <p:cSldViewPr>
      <p:cViewPr varScale="1">
        <p:scale>
          <a:sx n="77" d="100"/>
          <a:sy n="77" d="100"/>
        </p:scale>
        <p:origin x="108" y="6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3.2623527365167208E-2"/>
          <c:w val="1"/>
          <c:h val="0.618635370715271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АЙШОЛПАН СТ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solidFill>
                  <a:schemeClr val="lt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K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FDB-4A69-B519-A4DDACF443BD}"/>
                </c:ext>
              </c:extLst>
            </c:dLbl>
            <c:dLbl>
              <c:idx val="1"/>
              <c:layout>
                <c:manualLayout>
                  <c:x val="-4.4467830547267554E-3"/>
                  <c:y val="-7.516340200789152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696591743477477"/>
                      <c:h val="5.17860889445163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5D8-4C91-9246-59F524DE7D24}"/>
                </c:ext>
              </c:extLst>
            </c:dLbl>
            <c:dLbl>
              <c:idx val="2"/>
              <c:layout>
                <c:manualLayout>
                  <c:x val="-2.9645051002946607E-3"/>
                  <c:y val="-1.760555180582968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214322563310506"/>
                      <c:h val="4.94020445518408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E5D8-4C91-9246-59F524DE7D24}"/>
                </c:ext>
              </c:extLst>
            </c:dLbl>
            <c:spPr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Урожайность корнеплодов, ц/га</c:v>
                </c:pt>
                <c:pt idx="1">
                  <c:v>Сбор сахара, ц/га </c:v>
                </c:pt>
                <c:pt idx="2">
                  <c:v>Содержание сахара %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544.29999999999995</c:v>
                </c:pt>
                <c:pt idx="1">
                  <c:v>110.4</c:v>
                </c:pt>
                <c:pt idx="2">
                  <c:v>20.100000000000001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36-4634-B82C-FC708BDC7935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АБУЛХАЙЫР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2.9645412850889674E-3"/>
                  <c:y val="-3.558922468500386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5D8-4C91-9246-59F524DE7D24}"/>
                </c:ext>
              </c:extLst>
            </c:dLbl>
            <c:dLbl>
              <c:idx val="2"/>
              <c:layout>
                <c:manualLayout>
                  <c:x val="7.4337860530891003E-3"/>
                  <c:y val="-8.316784309692193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2082735342022964E-2"/>
                      <c:h val="6.39746275631236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5D8-4C91-9246-59F524DE7D24}"/>
                </c:ext>
              </c:extLst>
            </c:dLbl>
            <c:spPr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Урожайность корнеплодов, ц/га</c:v>
                </c:pt>
                <c:pt idx="1">
                  <c:v>Сбор сахара, ц/га </c:v>
                </c:pt>
                <c:pt idx="2">
                  <c:v>Содержание сахара %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621.70000000000005</c:v>
                </c:pt>
                <c:pt idx="1">
                  <c:v>119.7</c:v>
                </c:pt>
                <c:pt idx="2">
                  <c:v>19.2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36-4634-B82C-FC708BDC79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567513936"/>
        <c:axId val="-1567512304"/>
      </c:barChart>
      <c:catAx>
        <c:axId val="-1567513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pPr>
            <a:endParaRPr lang="ru-KZ"/>
          </a:p>
        </c:txPr>
        <c:crossAx val="-1567512304"/>
        <c:crosses val="autoZero"/>
        <c:auto val="1"/>
        <c:lblAlgn val="ctr"/>
        <c:lblOffset val="100"/>
        <c:noMultiLvlLbl val="0"/>
      </c:catAx>
      <c:valAx>
        <c:axId val="-15675123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-1567513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pPr>
            <a:endParaRPr lang="ru-KZ"/>
          </a:p>
        </c:txPr>
      </c:legendEntry>
      <c:layout>
        <c:manualLayout>
          <c:xMode val="edge"/>
          <c:yMode val="edge"/>
          <c:x val="8.4995220672215113E-2"/>
          <c:y val="0.8282035852142251"/>
          <c:w val="0.79033229334978294"/>
          <c:h val="5.9115836233278589E-2"/>
        </c:manualLayout>
      </c:layout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3.2623537455115148E-2"/>
          <c:w val="1"/>
          <c:h val="0.618635370715271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ТАРАЗ СТ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2.0175473837483235E-2"/>
                  <c:y val="-1.065347287879410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797799792420694"/>
                      <c:h val="5.082736632077165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5D8-4C91-9246-59F524DE7D24}"/>
                </c:ext>
              </c:extLst>
            </c:dLbl>
            <c:dLbl>
              <c:idx val="2"/>
              <c:layout>
                <c:manualLayout>
                  <c:x val="-2.9645396488037698E-3"/>
                  <c:y val="-2.041384834169116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214315653608684"/>
                      <c:h val="4.37854514801179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E5D8-4C91-9246-59F524DE7D24}"/>
                </c:ext>
              </c:extLst>
            </c:dLbl>
            <c:spPr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Урожайность корнеплодов, ц/га</c:v>
                </c:pt>
                <c:pt idx="1">
                  <c:v>Сбор сахара, ц/га </c:v>
                </c:pt>
                <c:pt idx="2">
                  <c:v>Содержание сахара %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280</c:v>
                </c:pt>
                <c:pt idx="1">
                  <c:v>46.5</c:v>
                </c:pt>
                <c:pt idx="2">
                  <c:v>16.3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36-4634-B82C-FC708BDC7935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АБУЛХАЙЫР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9.705384882132722E-3"/>
                  <c:y val="-1.166884732933698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5D8-4C91-9246-59F524DE7D24}"/>
                </c:ext>
              </c:extLst>
            </c:dLbl>
            <c:dLbl>
              <c:idx val="2"/>
              <c:layout>
                <c:manualLayout>
                  <c:x val="7.4337745668764249E-3"/>
                  <c:y val="-9.049720126143803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2082712369597614E-2"/>
                      <c:h val="4.931591123409143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5D8-4C91-9246-59F524DE7D24}"/>
                </c:ext>
              </c:extLst>
            </c:dLbl>
            <c:spPr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Урожайность корнеплодов, ц/га</c:v>
                </c:pt>
                <c:pt idx="1">
                  <c:v>Сбор сахара, ц/га </c:v>
                </c:pt>
                <c:pt idx="2">
                  <c:v>Содержание сахара %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300</c:v>
                </c:pt>
                <c:pt idx="1">
                  <c:v>53.2</c:v>
                </c:pt>
                <c:pt idx="2">
                  <c:v>18.3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36-4634-B82C-FC708BDC79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579456704"/>
        <c:axId val="-1579452352"/>
      </c:barChart>
      <c:catAx>
        <c:axId val="-1579456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pPr>
            <a:endParaRPr lang="ru-KZ"/>
          </a:p>
        </c:txPr>
        <c:crossAx val="-1579452352"/>
        <c:crosses val="autoZero"/>
        <c:auto val="1"/>
        <c:lblAlgn val="ctr"/>
        <c:lblOffset val="100"/>
        <c:noMultiLvlLbl val="0"/>
      </c:catAx>
      <c:valAx>
        <c:axId val="-15794523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-1579456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8992209122844368E-2"/>
          <c:y val="0.82627961976814734"/>
          <c:w val="0.90831677547544676"/>
          <c:h val="6.6223747400573768E-2"/>
        </c:manualLayout>
      </c:layout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3.2623455961253545E-2"/>
          <c:w val="1"/>
          <c:h val="0.618635370715271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ХОНЕЙ СТ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4.4467728378066052E-3"/>
                  <c:y val="-3.75987304566328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696593786861507"/>
                      <c:h val="5.929902325476812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5D8-4C91-9246-59F524DE7D24}"/>
                </c:ext>
              </c:extLst>
            </c:dLbl>
            <c:dLbl>
              <c:idx val="2"/>
              <c:layout>
                <c:manualLayout>
                  <c:x val="-2.9645835276790947E-3"/>
                  <c:y val="-1.807085693997396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214306877833619"/>
                      <c:h val="4.847143428355233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E5D8-4C91-9246-59F524DE7D24}"/>
                </c:ext>
              </c:extLst>
            </c:dLbl>
            <c:spPr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Урожайность корнеплодов, ц/га</c:v>
                </c:pt>
                <c:pt idx="1">
                  <c:v>Сбор сахара, ц/га </c:v>
                </c:pt>
                <c:pt idx="2">
                  <c:v>Содержание сахара %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630.70000000000005</c:v>
                </c:pt>
                <c:pt idx="1">
                  <c:v>124</c:v>
                </c:pt>
                <c:pt idx="2">
                  <c:v>16.5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36-4634-B82C-FC708BDC7935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ДЕЗИДЕРИЯ КВС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2.9645412850889674E-3"/>
                  <c:y val="-3.558922468500386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5D8-4C91-9246-59F524DE7D24}"/>
                </c:ext>
              </c:extLst>
            </c:dLbl>
            <c:dLbl>
              <c:idx val="2"/>
              <c:layout>
                <c:manualLayout>
                  <c:x val="7.4337860530891003E-3"/>
                  <c:y val="-8.316784309692193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2082735342022964E-2"/>
                      <c:h val="6.39746275631236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5D8-4C91-9246-59F524DE7D24}"/>
                </c:ext>
              </c:extLst>
            </c:dLbl>
            <c:spPr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Урожайность корнеплодов, ц/га</c:v>
                </c:pt>
                <c:pt idx="1">
                  <c:v>Сбор сахара, ц/га </c:v>
                </c:pt>
                <c:pt idx="2">
                  <c:v>Содержание сахара %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682</c:v>
                </c:pt>
                <c:pt idx="1">
                  <c:v>135</c:v>
                </c:pt>
                <c:pt idx="2">
                  <c:v>17.7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36-4634-B82C-FC708BDC79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579453440"/>
        <c:axId val="-1579449632"/>
      </c:barChart>
      <c:catAx>
        <c:axId val="-1579453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pPr>
            <a:endParaRPr lang="ru-KZ"/>
          </a:p>
        </c:txPr>
        <c:crossAx val="-1579449632"/>
        <c:crosses val="autoZero"/>
        <c:auto val="1"/>
        <c:lblAlgn val="ctr"/>
        <c:lblOffset val="100"/>
        <c:noMultiLvlLbl val="0"/>
      </c:catAx>
      <c:valAx>
        <c:axId val="-15794496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-1579453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6179736022674544E-2"/>
          <c:y val="0.8468653917783685"/>
          <c:w val="0.90831677547544676"/>
          <c:h val="6.6223747400573768E-2"/>
        </c:manualLayout>
      </c:layout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3.2623455961253545E-2"/>
          <c:w val="1"/>
          <c:h val="0.618635370715271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СМАРТ ИБЕРИЯ КВС УСЛ СТ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4.4467758388138812E-3"/>
                  <c:y val="-4.541117446874573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696593186660052"/>
                      <c:h val="5.773653445234554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5D8-4C91-9246-59F524DE7D24}"/>
                </c:ext>
              </c:extLst>
            </c:dLbl>
            <c:dLbl>
              <c:idx val="2"/>
              <c:layout>
                <c:manualLayout>
                  <c:x val="-2.9645623638403784E-3"/>
                  <c:y val="-1.425410682812671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214311110601362"/>
                      <c:h val="5.610493450724683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E5D8-4C91-9246-59F524DE7D24}"/>
                </c:ext>
              </c:extLst>
            </c:dLbl>
            <c:spPr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Урожайность корнеплодов, ц/га</c:v>
                </c:pt>
                <c:pt idx="1">
                  <c:v>Сбор сахара, ц/га </c:v>
                </c:pt>
                <c:pt idx="2">
                  <c:v>Содержание сахара %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434.7</c:v>
                </c:pt>
                <c:pt idx="1">
                  <c:v>69.5</c:v>
                </c:pt>
                <c:pt idx="2">
                  <c:v>19.100000000000001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36-4634-B82C-FC708BDC7935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АЛАНЬЯ КВС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2.9645412850889674E-3"/>
                  <c:y val="-3.558922468500386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5D8-4C91-9246-59F524DE7D24}"/>
                </c:ext>
              </c:extLst>
            </c:dLbl>
            <c:dLbl>
              <c:idx val="2"/>
              <c:layout>
                <c:manualLayout>
                  <c:x val="7.4337860530891003E-3"/>
                  <c:y val="-8.316784309692193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2082735342022964E-2"/>
                      <c:h val="6.39746275631236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5D8-4C91-9246-59F524DE7D24}"/>
                </c:ext>
              </c:extLst>
            </c:dLbl>
            <c:spPr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Урожайность корнеплодов, ц/га</c:v>
                </c:pt>
                <c:pt idx="1">
                  <c:v>Сбор сахара, ц/га </c:v>
                </c:pt>
                <c:pt idx="2">
                  <c:v>Содержание сахара %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432.8</c:v>
                </c:pt>
                <c:pt idx="1">
                  <c:v>83.7</c:v>
                </c:pt>
                <c:pt idx="2">
                  <c:v>18.3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36-4634-B82C-FC708BDC79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2"/>
        <c:overlap val="-42"/>
        <c:axId val="-1579458336"/>
        <c:axId val="-1579457792"/>
      </c:barChart>
      <c:catAx>
        <c:axId val="-1579458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pPr>
            <a:endParaRPr lang="ru-KZ"/>
          </a:p>
        </c:txPr>
        <c:crossAx val="-1579457792"/>
        <c:crosses val="autoZero"/>
        <c:auto val="1"/>
        <c:lblAlgn val="ctr"/>
        <c:lblOffset val="100"/>
        <c:noMultiLvlLbl val="0"/>
      </c:catAx>
      <c:valAx>
        <c:axId val="-157945779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-1579458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79725308618031343"/>
          <c:w val="0.99806343667290409"/>
          <c:h val="8.7120960373358869E-2"/>
        </c:manualLayout>
      </c:layout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3.2623455961253545E-2"/>
          <c:w val="1"/>
          <c:h val="0.618635370715271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ХОНЕЙ СТ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4.4468499740704746E-3"/>
                  <c:y val="-8.365776046074309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696578359608734"/>
                      <c:h val="5.008721725394607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5D8-4C91-9246-59F524DE7D24}"/>
                </c:ext>
              </c:extLst>
            </c:dLbl>
            <c:dLbl>
              <c:idx val="2"/>
              <c:layout>
                <c:manualLayout>
                  <c:x val="-2.9644992428290023E-3"/>
                  <c:y val="-1.862594028824601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214323734803638"/>
                      <c:h val="4.736126758700823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E5D8-4C91-9246-59F524DE7D24}"/>
                </c:ext>
              </c:extLst>
            </c:dLbl>
            <c:spPr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Урожайность корнеплодов, ц/га</c:v>
                </c:pt>
                <c:pt idx="1">
                  <c:v>Сбор сахара, ц/га </c:v>
                </c:pt>
                <c:pt idx="2">
                  <c:v>Содержание сахара %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739</c:v>
                </c:pt>
                <c:pt idx="1">
                  <c:v>145.1</c:v>
                </c:pt>
                <c:pt idx="2">
                  <c:v>20.3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36-4634-B82C-FC708BDC7935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ФД 22 Б 5004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2.9645412850889674E-3"/>
                  <c:y val="-3.558922468500386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5D8-4C91-9246-59F524DE7D24}"/>
                </c:ext>
              </c:extLst>
            </c:dLbl>
            <c:dLbl>
              <c:idx val="2"/>
              <c:layout>
                <c:manualLayout>
                  <c:x val="1.3235424158664244E-2"/>
                  <c:y val="-9.3312235978240524E-2"/>
                </c:manualLayout>
              </c:layout>
              <c:tx>
                <c:rich>
                  <a:bodyPr/>
                  <a:lstStyle/>
                  <a:p>
                    <a:fld id="{9EB9E0E4-71C0-4E60-9884-830605176DC1}" type="VALUE">
                      <a:rPr lang="en-US" sz="1400" dirty="0"/>
                      <a:pPr/>
                      <a:t>[ЗНАЧЕНИЕ]</a:t>
                    </a:fld>
                    <a:endParaRPr lang="ru-KZ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368601155317325"/>
                      <c:h val="4.3685841800486479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E5D8-4C91-9246-59F524DE7D24}"/>
                </c:ext>
              </c:extLst>
            </c:dLbl>
            <c:spPr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Урожайность корнеплодов, ц/га</c:v>
                </c:pt>
                <c:pt idx="1">
                  <c:v>Сбор сахара, ц/га </c:v>
                </c:pt>
                <c:pt idx="2">
                  <c:v>Содержание сахара %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750</c:v>
                </c:pt>
                <c:pt idx="1">
                  <c:v>162</c:v>
                </c:pt>
                <c:pt idx="2">
                  <c:v>19.5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36-4634-B82C-FC708BDC79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579453440"/>
        <c:axId val="-1579449632"/>
      </c:barChart>
      <c:catAx>
        <c:axId val="-1579453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pPr>
            <a:endParaRPr lang="ru-KZ"/>
          </a:p>
        </c:txPr>
        <c:crossAx val="-1579449632"/>
        <c:crosses val="autoZero"/>
        <c:auto val="1"/>
        <c:lblAlgn val="ctr"/>
        <c:lblOffset val="100"/>
        <c:noMultiLvlLbl val="0"/>
      </c:catAx>
      <c:valAx>
        <c:axId val="-15794496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-1579453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2354187920240589E-2"/>
          <c:y val="0.811356728041294"/>
          <c:w val="0.90831677547544676"/>
          <c:h val="6.6223747400573768E-2"/>
        </c:manualLayout>
      </c:layout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778010334645669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МАКТААРАЛ 4017 СТ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178133202099736E-2"/>
                      <c:h val="4.6200020730820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366D-4FB9-9695-45727A832631}"/>
                </c:ext>
              </c:extLst>
            </c:dLbl>
            <c:dLbl>
              <c:idx val="1"/>
              <c:layout>
                <c:manualLayout>
                  <c:x val="-3.2675385909132215E-2"/>
                  <c:y val="-2.794966381544888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797801837270342"/>
                      <c:h val="5.74529831805260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366D-4FB9-9695-45727A832631}"/>
                </c:ext>
              </c:extLst>
            </c:dLbl>
            <c:dLbl>
              <c:idx val="2"/>
              <c:layout>
                <c:manualLayout>
                  <c:x val="-2.9645412850889674E-3"/>
                  <c:y val="-1.186295813245310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214315326351645"/>
                      <c:h val="6.088723189859404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366D-4FB9-9695-45727A832631}"/>
                </c:ext>
              </c:extLst>
            </c:dLbl>
            <c:spPr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Урожайность волокна, ц/га</c:v>
                </c:pt>
                <c:pt idx="1">
                  <c:v>Урожайность сырца, ц/га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20.7</c:v>
                </c:pt>
                <c:pt idx="1">
                  <c:v>55.4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66D-4FB9-9695-45727A832631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МАКТААРАЛ 5030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178133202099736E-2"/>
                      <c:h val="4.340510114637917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366D-4FB9-9695-45727A832631}"/>
                </c:ext>
              </c:extLst>
            </c:dLbl>
            <c:dLbl>
              <c:idx val="1"/>
              <c:layout>
                <c:manualLayout>
                  <c:x val="9.705384882132722E-3"/>
                  <c:y val="-1.166884732933698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66D-4FB9-9695-45727A832631}"/>
                </c:ext>
              </c:extLst>
            </c:dLbl>
            <c:dLbl>
              <c:idx val="2"/>
              <c:layout>
                <c:manualLayout>
                  <c:x val="7.4337860530891003E-3"/>
                  <c:y val="-8.316784309692193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2082735342022964E-2"/>
                      <c:h val="6.39746275631236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366D-4FB9-9695-45727A832631}"/>
                </c:ext>
              </c:extLst>
            </c:dLbl>
            <c:spPr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Урожайность волокна, ц/га</c:v>
                </c:pt>
                <c:pt idx="1">
                  <c:v>Урожайность сырца, ц/га</c:v>
                </c:pt>
              </c:strCache>
            </c:str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23</c:v>
                </c:pt>
                <c:pt idx="1">
                  <c:v>57.5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66D-4FB9-9695-45727A8326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19"/>
        <c:overlap val="-21"/>
        <c:axId val="-1579456704"/>
        <c:axId val="-1579452352"/>
      </c:barChart>
      <c:catAx>
        <c:axId val="-1579456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pPr>
            <a:endParaRPr lang="ru-KZ"/>
          </a:p>
        </c:txPr>
        <c:crossAx val="-1579452352"/>
        <c:crosses val="autoZero"/>
        <c:auto val="1"/>
        <c:lblAlgn val="ctr"/>
        <c:lblOffset val="100"/>
        <c:noMultiLvlLbl val="0"/>
      </c:catAx>
      <c:valAx>
        <c:axId val="-15794523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-1579456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4825623359580055E-2"/>
          <c:y val="0.90127952755905527"/>
          <c:w val="0.90831677547544676"/>
          <c:h val="6.6223747400573768E-2"/>
        </c:manualLayout>
      </c:layout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 b="1">
          <a:solidFill>
            <a:schemeClr val="tx1"/>
          </a:solidFill>
        </a:defRPr>
      </a:pPr>
      <a:endParaRPr lang="ru-KZ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778010334645669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МАКТААРАЛ 4017 СТ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178133202099736E-2"/>
                      <c:h val="4.6200020730820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6CD0-48CA-817D-726AF50D3D00}"/>
                </c:ext>
              </c:extLst>
            </c:dLbl>
            <c:dLbl>
              <c:idx val="1"/>
              <c:layout>
                <c:manualLayout>
                  <c:x val="-3.2675385909132215E-2"/>
                  <c:y val="-2.794966381544888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797801837270342"/>
                      <c:h val="5.74529831805260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6CD0-48CA-817D-726AF50D3D00}"/>
                </c:ext>
              </c:extLst>
            </c:dLbl>
            <c:dLbl>
              <c:idx val="2"/>
              <c:layout>
                <c:manualLayout>
                  <c:x val="-2.9645412850889674E-3"/>
                  <c:y val="-1.186295813245310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214315326351645"/>
                      <c:h val="6.088723189859404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6CD0-48CA-817D-726AF50D3D00}"/>
                </c:ext>
              </c:extLst>
            </c:dLbl>
            <c:spPr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Урожайность волокна, ц/га</c:v>
                </c:pt>
                <c:pt idx="1">
                  <c:v>Урожайность сырца, ц/га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20.7</c:v>
                </c:pt>
                <c:pt idx="1">
                  <c:v>55.4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CD0-48CA-817D-726AF50D3D00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ЛИМА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178133202099736E-2"/>
                      <c:h val="4.340510114637917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6CD0-48CA-817D-726AF50D3D00}"/>
                </c:ext>
              </c:extLst>
            </c:dLbl>
            <c:dLbl>
              <c:idx val="1"/>
              <c:layout>
                <c:manualLayout>
                  <c:x val="9.705384882132722E-3"/>
                  <c:y val="-1.166884732933698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CD0-48CA-817D-726AF50D3D00}"/>
                </c:ext>
              </c:extLst>
            </c:dLbl>
            <c:dLbl>
              <c:idx val="2"/>
              <c:layout>
                <c:manualLayout>
                  <c:x val="7.4337860530891003E-3"/>
                  <c:y val="-8.316784309692193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2082735342022964E-2"/>
                      <c:h val="6.39746275631236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6CD0-48CA-817D-726AF50D3D00}"/>
                </c:ext>
              </c:extLst>
            </c:dLbl>
            <c:spPr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Урожайность волокна, ц/га</c:v>
                </c:pt>
                <c:pt idx="1">
                  <c:v>Урожайность сырца, ц/га</c:v>
                </c:pt>
              </c:strCache>
            </c:str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20.5</c:v>
                </c:pt>
                <c:pt idx="1">
                  <c:v>54.8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CD0-48CA-817D-726AF50D3D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19"/>
        <c:overlap val="-21"/>
        <c:axId val="-1579456704"/>
        <c:axId val="-1579452352"/>
      </c:barChart>
      <c:catAx>
        <c:axId val="-1579456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pPr>
            <a:endParaRPr lang="ru-KZ"/>
          </a:p>
        </c:txPr>
        <c:crossAx val="-1579452352"/>
        <c:crosses val="autoZero"/>
        <c:auto val="1"/>
        <c:lblAlgn val="ctr"/>
        <c:lblOffset val="100"/>
        <c:noMultiLvlLbl val="0"/>
      </c:catAx>
      <c:valAx>
        <c:axId val="-15794523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-1579456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4825623359580055E-2"/>
          <c:y val="0.90127952755905527"/>
          <c:w val="0.90831677547544676"/>
          <c:h val="6.6223747400573768E-2"/>
        </c:manualLayout>
      </c:layout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 b="1">
          <a:solidFill>
            <a:schemeClr val="tx1"/>
          </a:solidFill>
        </a:defRPr>
      </a:pPr>
      <a:endParaRPr lang="ru-KZ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778010334645669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МАКТААРАЛ 4017 СТ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178133202099736E-2"/>
                      <c:h val="4.6200020730820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BD73-42DF-A1A7-C67CFD9FE5A5}"/>
                </c:ext>
              </c:extLst>
            </c:dLbl>
            <c:dLbl>
              <c:idx val="1"/>
              <c:layout>
                <c:manualLayout>
                  <c:x val="-3.2675385909132215E-2"/>
                  <c:y val="-2.794966381544888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797801837270342"/>
                      <c:h val="5.74529831805260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5D8-4C91-9246-59F524DE7D24}"/>
                </c:ext>
              </c:extLst>
            </c:dLbl>
            <c:dLbl>
              <c:idx val="2"/>
              <c:layout>
                <c:manualLayout>
                  <c:x val="-2.9645412850889674E-3"/>
                  <c:y val="-1.186295813245310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214315326351645"/>
                      <c:h val="6.088723189859404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E5D8-4C91-9246-59F524DE7D24}"/>
                </c:ext>
              </c:extLst>
            </c:dLbl>
            <c:spPr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Урожайность волокна, ц/га</c:v>
                </c:pt>
                <c:pt idx="1">
                  <c:v>Урожайность сырца, ц/га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20.7</c:v>
                </c:pt>
                <c:pt idx="1">
                  <c:v>55.4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36-4634-B82C-FC708BDC7935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КАРИЗМА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178133202099736E-2"/>
                      <c:h val="4.340510114637917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BD73-42DF-A1A7-C67CFD9FE5A5}"/>
                </c:ext>
              </c:extLst>
            </c:dLbl>
            <c:dLbl>
              <c:idx val="1"/>
              <c:layout>
                <c:manualLayout>
                  <c:x val="9.705384882132722E-3"/>
                  <c:y val="-1.166884732933698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5D8-4C91-9246-59F524DE7D24}"/>
                </c:ext>
              </c:extLst>
            </c:dLbl>
            <c:dLbl>
              <c:idx val="2"/>
              <c:layout>
                <c:manualLayout>
                  <c:x val="7.4337860530891003E-3"/>
                  <c:y val="-8.316784309692193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2082735342022964E-2"/>
                      <c:h val="6.39746275631236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5D8-4C91-9246-59F524DE7D24}"/>
                </c:ext>
              </c:extLst>
            </c:dLbl>
            <c:spPr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Урожайность волокна, ц/га</c:v>
                </c:pt>
                <c:pt idx="1">
                  <c:v>Урожайность сырца, ц/га</c:v>
                </c:pt>
              </c:strCache>
            </c:str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20.3</c:v>
                </c:pt>
                <c:pt idx="1">
                  <c:v>54.7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36-4634-B82C-FC708BDC79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19"/>
        <c:overlap val="-21"/>
        <c:axId val="-1579456704"/>
        <c:axId val="-1579452352"/>
      </c:barChart>
      <c:catAx>
        <c:axId val="-1579456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pPr>
            <a:endParaRPr lang="ru-KZ"/>
          </a:p>
        </c:txPr>
        <c:crossAx val="-1579452352"/>
        <c:crosses val="autoZero"/>
        <c:auto val="1"/>
        <c:lblAlgn val="ctr"/>
        <c:lblOffset val="100"/>
        <c:noMultiLvlLbl val="0"/>
      </c:catAx>
      <c:valAx>
        <c:axId val="-15794523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-1579456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4825623359580055E-2"/>
          <c:y val="0.90127952755905527"/>
          <c:w val="0.90831677547544676"/>
          <c:h val="6.6223747400573768E-2"/>
        </c:manualLayout>
      </c:layout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 b="1">
          <a:solidFill>
            <a:schemeClr val="tx1"/>
          </a:solidFill>
        </a:defRPr>
      </a:pPr>
      <a:endParaRPr lang="ru-KZ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4668E-77D9-4048-900E-1FCD65C450C0}" type="datetimeFigureOut">
              <a:rPr lang="ru-RU" smtClean="0"/>
              <a:pPr/>
              <a:t>04.12.2024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8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6430"/>
            <a:ext cx="5438140" cy="39079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9427075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4" y="9427075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BE1DA-BC77-40F5-9FB1-DE5F470F0C1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0530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CCC54-F577-6E80-B2A1-A27491818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7B8924C-603E-E451-D7C1-8E99D86124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B366169-280F-D987-C997-1754A45B0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  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E9B114-B546-6C2E-EC6C-5B5160D8E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FBE1DA-BC77-40F5-9FB1-DE5F470F0C17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305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D1B00-6559-F61B-8FFD-25EA1EA87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F4F106D-748E-D366-E508-FE0FA1AE4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9BC78B3-D22F-5A96-D030-1EB6AAF80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31D261-2E62-085C-660D-513E26FBCA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FBE1DA-BC77-40F5-9FB1-DE5F470F0C17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307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B784D-BF55-74DB-61F1-B86AA7A64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BDB992D-23B8-4C78-7CB2-B1BA3F28A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6C30D90-1C84-3FB3-6401-AEC489BE9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35A3F5-20AE-E9DF-57A6-30E1080B26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FBE1DA-BC77-40F5-9FB1-DE5F470F0C17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712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CA2C-D300-4BCA-9F22-B85E4EEE0783}" type="datetimeFigureOut">
              <a:rPr lang="ru-RU" smtClean="0"/>
              <a:pPr/>
              <a:t>04.12.2024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5D5E-0FAA-4141-8100-06B19A5FD14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7218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CA2C-D300-4BCA-9F22-B85E4EEE0783}" type="datetimeFigureOut">
              <a:rPr lang="ru-RU" smtClean="0"/>
              <a:pPr/>
              <a:t>04.12.2024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5D5E-0FAA-4141-8100-06B19A5FD14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1245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CA2C-D300-4BCA-9F22-B85E4EEE0783}" type="datetimeFigureOut">
              <a:rPr lang="ru-RU" smtClean="0"/>
              <a:pPr/>
              <a:t>04.12.2024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5D5E-0FAA-4141-8100-06B19A5FD14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3993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CA2C-D300-4BCA-9F22-B85E4EEE0783}" type="datetimeFigureOut">
              <a:rPr lang="ru-RU" smtClean="0"/>
              <a:pPr/>
              <a:t>04.12.2024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5D5E-0FAA-4141-8100-06B19A5FD14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715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CA2C-D300-4BCA-9F22-B85E4EEE0783}" type="datetimeFigureOut">
              <a:rPr lang="ru-RU" smtClean="0"/>
              <a:pPr/>
              <a:t>04.12.2024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5D5E-0FAA-4141-8100-06B19A5FD14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119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CA2C-D300-4BCA-9F22-B85E4EEE0783}" type="datetimeFigureOut">
              <a:rPr lang="ru-RU" smtClean="0"/>
              <a:pPr/>
              <a:t>04.12.2024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5D5E-0FAA-4141-8100-06B19A5FD14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138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CA2C-D300-4BCA-9F22-B85E4EEE0783}" type="datetimeFigureOut">
              <a:rPr lang="ru-RU" smtClean="0"/>
              <a:pPr/>
              <a:t>04.12.2024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5D5E-0FAA-4141-8100-06B19A5FD14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4038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CA2C-D300-4BCA-9F22-B85E4EEE0783}" type="datetimeFigureOut">
              <a:rPr lang="ru-RU" smtClean="0"/>
              <a:pPr/>
              <a:t>04.12.2024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5D5E-0FAA-4141-8100-06B19A5FD14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411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CA2C-D300-4BCA-9F22-B85E4EEE0783}" type="datetimeFigureOut">
              <a:rPr lang="ru-RU" smtClean="0"/>
              <a:pPr/>
              <a:t>04.12.2024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5D5E-0FAA-4141-8100-06B19A5FD14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1658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CA2C-D300-4BCA-9F22-B85E4EEE0783}" type="datetimeFigureOut">
              <a:rPr lang="ru-RU" smtClean="0"/>
              <a:pPr/>
              <a:t>04.12.2024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5D5E-0FAA-4141-8100-06B19A5FD14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4428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CA2C-D300-4BCA-9F22-B85E4EEE0783}" type="datetimeFigureOut">
              <a:rPr lang="ru-RU" smtClean="0"/>
              <a:pPr/>
              <a:t>04.12.2024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5D5E-0FAA-4141-8100-06B19A5FD143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1354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CA2C-D300-4BCA-9F22-B85E4EEE0783}" type="datetimeFigureOut">
              <a:rPr lang="ru-RU" smtClean="0"/>
              <a:pPr/>
              <a:t>04.12.2024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5D5E-0FAA-4141-8100-06B19A5FD14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4804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CA2C-D300-4BCA-9F22-B85E4EEE0783}" type="datetimeFigureOut">
              <a:rPr lang="ru-RU" smtClean="0"/>
              <a:pPr/>
              <a:t>04.12.2024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5D5E-0FAA-4141-8100-06B19A5FD143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47357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CA2C-D300-4BCA-9F22-B85E4EEE0783}" type="datetimeFigureOut">
              <a:rPr lang="ru-RU" smtClean="0"/>
              <a:pPr/>
              <a:t>04.12.2024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5D5E-0FAA-4141-8100-06B19A5FD14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5515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CA2C-D300-4BCA-9F22-B85E4EEE0783}" type="datetimeFigureOut">
              <a:rPr lang="ru-RU" smtClean="0"/>
              <a:pPr/>
              <a:t>04.12.2024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5D5E-0FAA-4141-8100-06B19A5FD14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0289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CA2C-D300-4BCA-9F22-B85E4EEE0783}" type="datetimeFigureOut">
              <a:rPr lang="ru-RU" smtClean="0"/>
              <a:pPr/>
              <a:t>04.12.2024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5D5E-0FAA-4141-8100-06B19A5FD14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7664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BCA2C-D300-4BCA-9F22-B85E4EEE0783}" type="datetimeFigureOut">
              <a:rPr lang="ru-RU" smtClean="0"/>
              <a:pPr/>
              <a:t>04.12.2024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515D5E-0FAA-4141-8100-06B19A5FD14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2842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611560" y="548680"/>
            <a:ext cx="770485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err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Техникалық</a:t>
            </a:r>
            <a:r>
              <a:rPr lang="ru-RU" sz="28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және</a:t>
            </a:r>
            <a:r>
              <a:rPr lang="ru-RU" sz="28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талшықты</a:t>
            </a:r>
            <a:r>
              <a:rPr lang="ru-RU" sz="28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дақылдар</a:t>
            </a:r>
            <a:r>
              <a:rPr lang="ru-RU" sz="28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бойынша</a:t>
            </a:r>
            <a:r>
              <a:rPr lang="ru-RU" sz="28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Қазақстан</a:t>
            </a:r>
            <a:r>
              <a:rPr lang="ru-RU" sz="28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Республикасында</a:t>
            </a:r>
            <a:r>
              <a:rPr lang="ru-RU" sz="28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пайдалануға</a:t>
            </a:r>
            <a:r>
              <a:rPr lang="ru-RU" sz="28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ұсынылған</a:t>
            </a:r>
            <a:r>
              <a:rPr lang="ru-RU" sz="28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селекциялық</a:t>
            </a:r>
            <a:r>
              <a:rPr lang="ru-RU" sz="28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жетістіктердің</a:t>
            </a:r>
            <a:r>
              <a:rPr lang="ru-RU" sz="28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мемлекеттік</a:t>
            </a:r>
            <a:r>
              <a:rPr lang="ru-RU" sz="28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тізбесіне</a:t>
            </a:r>
            <a:r>
              <a:rPr lang="ru-RU" sz="28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 2025 </a:t>
            </a:r>
            <a:r>
              <a:rPr lang="ru-RU" sz="2800" b="1" dirty="0" err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жылға</a:t>
            </a:r>
            <a:r>
              <a:rPr lang="ru-RU" sz="28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енгізілетін</a:t>
            </a:r>
            <a:r>
              <a:rPr lang="ru-RU" sz="28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өзгерістер</a:t>
            </a:r>
            <a:endParaRPr lang="ru-RU" sz="2800" b="1" dirty="0">
              <a:ln w="10541" cmpd="sng">
                <a:solidFill>
                  <a:srgbClr val="4F81BD">
                    <a:shade val="88000"/>
                    <a:satMod val="110000"/>
                  </a:srgbClr>
                </a:solidFill>
                <a:prstDash val="solid"/>
              </a:ln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8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/>
            <a:r>
              <a:rPr lang="ru-RU" sz="28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Изменения, вносимые </a:t>
            </a:r>
          </a:p>
          <a:p>
            <a:pPr algn="ctr"/>
            <a:r>
              <a:rPr lang="ru-RU" sz="28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в Государственный реестр селекционных</a:t>
            </a:r>
          </a:p>
          <a:p>
            <a:pPr algn="ctr"/>
            <a:r>
              <a:rPr lang="ru-RU" sz="28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 достижений, рекомендуемых к использованию в Республике Казахстан </a:t>
            </a:r>
          </a:p>
          <a:p>
            <a:pPr algn="ctr"/>
            <a:r>
              <a:rPr lang="ru-RU" sz="28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по техническим и прядильным культурам на 2025 год  </a:t>
            </a:r>
          </a:p>
        </p:txBody>
      </p:sp>
    </p:spTree>
    <p:extLst>
      <p:ext uri="{BB962C8B-B14F-4D97-AF65-F5344CB8AC3E}">
        <p14:creationId xmlns:p14="http://schemas.microsoft.com/office/powerpoint/2010/main" val="2102687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15816" y="-480"/>
            <a:ext cx="6048672" cy="674184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02460" y="155862"/>
            <a:ext cx="5724128" cy="720080"/>
          </a:xfrm>
        </p:spPr>
        <p:txBody>
          <a:bodyPr>
            <a:noAutofit/>
          </a:bodyPr>
          <a:lstStyle/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Қант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қызылшасы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Сахарная свекла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428" y="875942"/>
            <a:ext cx="3415444" cy="543337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numCol="2" rtlCol="0" anchor="ctr"/>
          <a:lstStyle/>
          <a:p>
            <a:endParaRPr lang="ru-RU" sz="20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Жетісу</a:t>
            </a:r>
            <a:r>
              <a:rPr lang="ru-RU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область</a:t>
            </a: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Ялтушковская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односемянная (1961)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Ялтушковская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односемянная 30 (1981)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ЦКАЗ МС 44 (1995)</a:t>
            </a:r>
          </a:p>
          <a:p>
            <a:r>
              <a:rPr lang="kk-KZ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Рекорд 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(1996)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Роксан (1997)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Ризор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(1999)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Гольф (2000)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Каз СИБ 14 (2001)</a:t>
            </a:r>
          </a:p>
          <a:p>
            <a:r>
              <a:rPr lang="kk-KZ" sz="14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№</a:t>
            </a:r>
            <a:r>
              <a:rPr lang="ru-RU" sz="14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673403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(2002)</a:t>
            </a:r>
            <a:endParaRPr lang="ru-RU" sz="14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Ленора (2004)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Георгина (2005)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Элодие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(2006)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Ирис (2011)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Крокодил (2011)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Дануб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(2012)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Ардан (2012)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Шаннон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(2013)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Аксу (2014)</a:t>
            </a: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Гримм (2014)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Портланд (2014)</a:t>
            </a:r>
          </a:p>
          <a:p>
            <a:r>
              <a:rPr lang="ru-RU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Айшолпан</a:t>
            </a: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(2016)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Шекер (2017)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Игорь (2018)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Тиссерин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(2018)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Эйдер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(2018)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Тадорн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(2019)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Шкипер (2020)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Мустанг (2021)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Номад смарт (2022)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Сандпайпер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смарт(2022)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Хоней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(2022)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Леопольда КВС (2023)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Пегасус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(2023)</a:t>
            </a: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6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Диаграмма 8"/>
          <p:cNvGraphicFramePr/>
          <p:nvPr>
            <p:extLst>
              <p:ext uri="{D42A27DB-BD31-4B8C-83A1-F6EECF244321}">
                <p14:modId xmlns:p14="http://schemas.microsoft.com/office/powerpoint/2010/main" val="465961877"/>
              </p:ext>
            </p:extLst>
          </p:nvPr>
        </p:nvGraphicFramePr>
        <p:xfrm>
          <a:off x="3419871" y="1290699"/>
          <a:ext cx="5724129" cy="552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3868634" y="570619"/>
            <a:ext cx="2591780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kk-KZ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Абулхайыр</a:t>
            </a:r>
            <a:endParaRPr lang="ru-RU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655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27784" y="840667"/>
            <a:ext cx="6516216" cy="601733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43808" y="152554"/>
            <a:ext cx="5868144" cy="720080"/>
          </a:xfrm>
        </p:spPr>
        <p:txBody>
          <a:bodyPr>
            <a:noAutofit/>
          </a:bodyPr>
          <a:lstStyle/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Қант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қызылшасы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Сахарная свекла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5496" y="1184642"/>
            <a:ext cx="3024336" cy="54006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ru-RU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Жамбылская область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Ялтушковская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односемянная (1961)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Ялтушковская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односемянная 30 (1981)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ЦКАЗ МС 44 (1995)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Рикко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(1998)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Амели (1999)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Ризор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(1999)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Ризофорт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(1999)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Авантаж (2000)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Гольф (2000)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Скудо (2000)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Венера (2004)</a:t>
            </a:r>
            <a:endParaRPr lang="ru-RU" sz="1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Тараз (2017)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Тиссерин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(2018)</a:t>
            </a:r>
            <a:endParaRPr lang="ru-RU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Виорика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КВС (2019)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ФД Бункер (2019)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Памяти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Абугалиева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(2020)</a:t>
            </a:r>
          </a:p>
          <a:p>
            <a:r>
              <a:rPr lang="ru-RU" sz="20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Диаграмма 8"/>
          <p:cNvGraphicFramePr/>
          <p:nvPr>
            <p:extLst>
              <p:ext uri="{D42A27DB-BD31-4B8C-83A1-F6EECF244321}">
                <p14:modId xmlns:p14="http://schemas.microsoft.com/office/powerpoint/2010/main" val="3498282353"/>
              </p:ext>
            </p:extLst>
          </p:nvPr>
        </p:nvGraphicFramePr>
        <p:xfrm>
          <a:off x="3059832" y="1386940"/>
          <a:ext cx="6012160" cy="5198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3779912" y="512594"/>
            <a:ext cx="2807804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kk-KZ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Абулхайыр</a:t>
            </a:r>
            <a:endParaRPr lang="ru-RU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536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27784" y="334359"/>
            <a:ext cx="6516216" cy="6523642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87824" y="152554"/>
            <a:ext cx="5724128" cy="720080"/>
          </a:xfrm>
        </p:spPr>
        <p:txBody>
          <a:bodyPr>
            <a:noAutofit/>
          </a:bodyPr>
          <a:lstStyle/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Қант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қызылшасы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Сахарная свекла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071813"/>
            <a:ext cx="3563887" cy="568863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numCol="2" rtlCol="0" anchor="ctr"/>
          <a:lstStyle/>
          <a:p>
            <a:endParaRPr lang="ru-RU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Жетісу</a:t>
            </a:r>
            <a:r>
              <a:rPr lang="ru-RU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область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Ялтушковская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односемянная (1961)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Ялтушковская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односемянная 30 (1981)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ЦКАЗ МС 44 (1995)</a:t>
            </a:r>
          </a:p>
          <a:p>
            <a:r>
              <a:rPr lang="kk-KZ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Рекорд 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(1996)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Роксан (1997)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Ризор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(1999)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Гольф (2000)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Каз СИБ 14 (2001)</a:t>
            </a:r>
          </a:p>
          <a:p>
            <a:r>
              <a:rPr lang="kk-KZ" sz="14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№</a:t>
            </a:r>
            <a:r>
              <a:rPr lang="ru-RU" sz="14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673403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(2002)</a:t>
            </a:r>
            <a:endParaRPr lang="ru-RU" sz="14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Ленора (2004)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Георгина (2005)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Элодие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(2006)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Ирис (2011)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Крокодил (2011)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Дануб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(2012)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Ардан (2012)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Шаннон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(2013)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Аксу (2014)</a:t>
            </a: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Гримм (2014)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Портланд (2014)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Айшолпан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(2016)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Шекер (2017)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Игорь (2018)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Тиссерин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(2018)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Эйдер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(2018)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Тадорн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(2019)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Шкипер (2020)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Мустанг (2021)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Номад смарт (2022)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Сандпайпер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смарт(2022)</a:t>
            </a:r>
          </a:p>
          <a:p>
            <a:r>
              <a:rPr lang="ru-RU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Хоней</a:t>
            </a: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(2022)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Леопольда КВС (2023)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Пегасус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(2023)</a:t>
            </a:r>
          </a:p>
          <a:p>
            <a:endParaRPr lang="ru-RU" sz="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Диаграмма 8"/>
          <p:cNvGraphicFramePr/>
          <p:nvPr>
            <p:extLst>
              <p:ext uri="{D42A27DB-BD31-4B8C-83A1-F6EECF244321}">
                <p14:modId xmlns:p14="http://schemas.microsoft.com/office/powerpoint/2010/main" val="3606179577"/>
              </p:ext>
            </p:extLst>
          </p:nvPr>
        </p:nvGraphicFramePr>
        <p:xfrm>
          <a:off x="3419872" y="1409206"/>
          <a:ext cx="5724128" cy="5114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4283968" y="512594"/>
            <a:ext cx="3239852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Дезидерия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КВС</a:t>
            </a:r>
          </a:p>
        </p:txBody>
      </p:sp>
    </p:spTree>
    <p:extLst>
      <p:ext uri="{BB962C8B-B14F-4D97-AF65-F5344CB8AC3E}">
        <p14:creationId xmlns:p14="http://schemas.microsoft.com/office/powerpoint/2010/main" val="2836091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05758" y="598157"/>
            <a:ext cx="6076478" cy="610728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99792" y="152554"/>
            <a:ext cx="6012160" cy="720080"/>
          </a:xfrm>
        </p:spPr>
        <p:txBody>
          <a:bodyPr>
            <a:noAutofit/>
          </a:bodyPr>
          <a:lstStyle/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Қант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қызылшасы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Сахарная свекла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287771"/>
            <a:ext cx="3635896" cy="518319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numCol="2" rtlCol="0" anchor="ctr"/>
          <a:lstStyle/>
          <a:p>
            <a:pPr algn="ctr"/>
            <a:r>
              <a:rPr lang="ru-RU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Жетісу</a:t>
            </a:r>
            <a:r>
              <a:rPr lang="ru-RU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область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Ялтушковская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односемянная (1961)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Ялтушковская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односемянная 30 (1981)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ЦКАЗ МС 44 (1995)</a:t>
            </a:r>
          </a:p>
          <a:p>
            <a:r>
              <a:rPr lang="kk-KZ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Рекорд 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(1996)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Роксан (1997)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Ризор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(1999)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Гольф (2000)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Каз СИБ 14 (2001)</a:t>
            </a:r>
          </a:p>
          <a:p>
            <a:r>
              <a:rPr lang="kk-KZ" sz="14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№</a:t>
            </a:r>
            <a:r>
              <a:rPr lang="ru-RU" sz="14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673403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(2002)</a:t>
            </a:r>
            <a:endParaRPr lang="ru-RU" sz="14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Ленора (2004)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Георгина (2005)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Элодие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(2006)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Ирис (2011)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Крокодил (2011)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Дануб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(2012)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Ардан (2012)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Шаннон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(2013)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Аксу (2014)</a:t>
            </a: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Гримм (2014)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Портланд (2014)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Айшолпан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(2016)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Шекер (2017)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Игорь (2018)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Тиссерин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(2018)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Эйдер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(2018)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Тадорн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(2019)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Шкипер (2020)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Мустанг (2021)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Номад смарт (2022)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Сандпайпер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смарт(2022)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Хоней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(2022)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Леопольда КВС (2023)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Пегасус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(2023)</a:t>
            </a: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Диаграмма 8"/>
          <p:cNvGraphicFramePr/>
          <p:nvPr>
            <p:extLst>
              <p:ext uri="{D42A27DB-BD31-4B8C-83A1-F6EECF244321}">
                <p14:modId xmlns:p14="http://schemas.microsoft.com/office/powerpoint/2010/main" val="4257549884"/>
              </p:ext>
            </p:extLst>
          </p:nvPr>
        </p:nvGraphicFramePr>
        <p:xfrm>
          <a:off x="3563888" y="1232673"/>
          <a:ext cx="5580112" cy="5311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5166066" y="635031"/>
            <a:ext cx="2375756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kk-KZ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Аланья КВС</a:t>
            </a:r>
            <a:endParaRPr lang="ru-RU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CBC74F-E117-4BA3-8DCA-B00E4C1E5EDA}"/>
              </a:ext>
            </a:extLst>
          </p:cNvPr>
          <p:cNvSpPr txBox="1"/>
          <p:nvPr/>
        </p:nvSpPr>
        <p:spPr>
          <a:xfrm>
            <a:off x="1559945" y="517253"/>
            <a:ext cx="243599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Смарт Иберия КВС </a:t>
            </a: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(условный стандарт)</a:t>
            </a:r>
            <a:endParaRPr lang="ru-KZ" sz="1200" dirty="0"/>
          </a:p>
        </p:txBody>
      </p:sp>
    </p:spTree>
    <p:extLst>
      <p:ext uri="{BB962C8B-B14F-4D97-AF65-F5344CB8AC3E}">
        <p14:creationId xmlns:p14="http://schemas.microsoft.com/office/powerpoint/2010/main" val="1264859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93CA9-F420-01AD-C027-56DF27894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7389FDB-87AB-8AE2-505A-CB0BA645F40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87824" y="178091"/>
            <a:ext cx="6156176" cy="667991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FCBE2D-FD72-85F4-BFE4-0563D06F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7824" y="152554"/>
            <a:ext cx="5724128" cy="720080"/>
          </a:xfrm>
        </p:spPr>
        <p:txBody>
          <a:bodyPr>
            <a:noAutofit/>
          </a:bodyPr>
          <a:lstStyle/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Қант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қызылшасы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Сахарная свекла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986DA56-2A41-B098-ED41-2F06521AB2D2}"/>
              </a:ext>
            </a:extLst>
          </p:cNvPr>
          <p:cNvSpPr/>
          <p:nvPr/>
        </p:nvSpPr>
        <p:spPr>
          <a:xfrm>
            <a:off x="0" y="1071813"/>
            <a:ext cx="3563887" cy="568863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numCol="2" rtlCol="0" anchor="ctr"/>
          <a:lstStyle/>
          <a:p>
            <a:pPr algn="ctr"/>
            <a:r>
              <a:rPr lang="ru-RU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Жетісу</a:t>
            </a:r>
            <a:r>
              <a:rPr lang="ru-RU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области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Ялтушковская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односемянная (1961)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Ялтушковская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односемянная 30 (1981)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ЦКАЗ МС 44 (1995)</a:t>
            </a:r>
          </a:p>
          <a:p>
            <a:r>
              <a:rPr lang="kk-KZ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Рекорд 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(1996)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Роксан (1997)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Ризор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(1999)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Гольф (2000)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Каз СИБ 14 (2001)</a:t>
            </a:r>
          </a:p>
          <a:p>
            <a:r>
              <a:rPr lang="kk-KZ" sz="14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№</a:t>
            </a:r>
            <a:r>
              <a:rPr lang="ru-RU" sz="14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673403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(2002)</a:t>
            </a:r>
            <a:endParaRPr lang="ru-RU" sz="14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Ленора (2004)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Георгина (2005)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Элодие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(2006)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Ирис (2011)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Крокодил (2011)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Дануб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(2012)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Ардан (2012)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Шаннон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(2013)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Аксу (2014)</a:t>
            </a: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Гримм (2014)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Портланд (2014)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Айшолпан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(2016)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Шекер (2017)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Игорь (2018)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Тиссерин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(2018)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Эйдер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(2018)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Тадорн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(2019)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Шкипер (2020)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Мустанг (2021)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Номад смарт (2022)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Сандпайпер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смарт(2022)</a:t>
            </a:r>
          </a:p>
          <a:p>
            <a:r>
              <a:rPr lang="ru-RU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Хоней</a:t>
            </a: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(2022)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Леопольда КВС (2023)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Пегасус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(2023)</a:t>
            </a:r>
          </a:p>
          <a:p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F4A7154D-868D-0A75-B034-C4B084BF24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8741434"/>
              </p:ext>
            </p:extLst>
          </p:nvPr>
        </p:nvGraphicFramePr>
        <p:xfrm>
          <a:off x="3583595" y="1071813"/>
          <a:ext cx="5472609" cy="56336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4759EB1-8BDE-047A-8CF2-9F87B6F1E7EE}"/>
              </a:ext>
            </a:extLst>
          </p:cNvPr>
          <p:cNvSpPr/>
          <p:nvPr/>
        </p:nvSpPr>
        <p:spPr>
          <a:xfrm>
            <a:off x="4283968" y="512594"/>
            <a:ext cx="3239852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ФД 22 Б 5004</a:t>
            </a:r>
          </a:p>
        </p:txBody>
      </p:sp>
    </p:spTree>
    <p:extLst>
      <p:ext uri="{BB962C8B-B14F-4D97-AF65-F5344CB8AC3E}">
        <p14:creationId xmlns:p14="http://schemas.microsoft.com/office/powerpoint/2010/main" val="2665288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81848-FE99-F35E-2FEC-2CED5C6E5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32339E8-6B48-0819-2192-DC02E949F7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8368"/>
            <a:ext cx="7127662" cy="4792743"/>
          </a:xfrm>
          <a:prstGeom prst="rect">
            <a:avLst/>
          </a:prstGeom>
        </p:spPr>
      </p:pic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7358104D-0590-DAC5-29E6-7DC2387F2186}"/>
              </a:ext>
            </a:extLst>
          </p:cNvPr>
          <p:cNvSpPr/>
          <p:nvPr/>
        </p:nvSpPr>
        <p:spPr>
          <a:xfrm>
            <a:off x="827584" y="5478774"/>
            <a:ext cx="5205130" cy="12150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Качественные показатели:</a:t>
            </a:r>
          </a:p>
          <a:p>
            <a:pPr algn="ctr"/>
            <a:r>
              <a:rPr lang="kk-KZ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Выход волокна  - 40,6 %, (37,3% ст)</a:t>
            </a:r>
          </a:p>
          <a:p>
            <a:pPr algn="ctr"/>
            <a:r>
              <a:rPr lang="kk-KZ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Длина волокна - 33,4 мм, (33,35мм ст)</a:t>
            </a:r>
          </a:p>
          <a:p>
            <a:pPr algn="ctr"/>
            <a:r>
              <a:rPr lang="kk-KZ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Микронейр - 4,8. (4,3 ст)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707D6AEC-F4F0-10D6-E738-A5B35A4B2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662" y="984476"/>
            <a:ext cx="2016338" cy="449429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576" tIns="32004" rIns="0" bIns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800" b="1" kern="0" dirty="0">
                <a:latin typeface="Times New Roman"/>
                <a:cs typeface="Times New Roman"/>
              </a:rPr>
              <a:t>Туркестанская область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>
                <a:latin typeface="Times New Roman"/>
                <a:cs typeface="Times New Roman"/>
              </a:rPr>
              <a:t>С-4727 (1961) </a:t>
            </a:r>
            <a:endParaRPr lang="ru-RU" sz="1200" kern="0" dirty="0">
              <a:latin typeface="Times New Roman"/>
              <a:cs typeface="Times New Roman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 err="1">
                <a:latin typeface="Times New Roman"/>
                <a:cs typeface="Times New Roman"/>
              </a:rPr>
              <a:t>Пахтаарал</a:t>
            </a:r>
            <a:r>
              <a:rPr lang="ru-RU" sz="1400" kern="0" dirty="0">
                <a:latin typeface="Times New Roman"/>
                <a:cs typeface="Times New Roman"/>
              </a:rPr>
              <a:t> 3044 (1999) 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 err="1">
                <a:latin typeface="Times New Roman"/>
                <a:cs typeface="Times New Roman"/>
              </a:rPr>
              <a:t>Пахтаарал</a:t>
            </a:r>
            <a:r>
              <a:rPr lang="ru-RU" sz="1400" kern="0" dirty="0">
                <a:latin typeface="Times New Roman"/>
                <a:cs typeface="Times New Roman"/>
              </a:rPr>
              <a:t> 3031 (2000) 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 err="1">
                <a:latin typeface="Times New Roman"/>
                <a:cs typeface="Times New Roman"/>
              </a:rPr>
              <a:t>Егемен</a:t>
            </a:r>
            <a:r>
              <a:rPr lang="ru-RU" sz="1400" kern="0" dirty="0">
                <a:latin typeface="Times New Roman"/>
                <a:cs typeface="Times New Roman"/>
              </a:rPr>
              <a:t> 10 (2006)</a:t>
            </a:r>
          </a:p>
          <a:p>
            <a:pPr algn="ctr" rtl="1">
              <a:defRPr sz="1000"/>
            </a:pPr>
            <a:r>
              <a:rPr lang="ru-RU" sz="1400" kern="0" dirty="0">
                <a:latin typeface="Times New Roman"/>
                <a:cs typeface="Times New Roman"/>
              </a:rPr>
              <a:t>БД-1 (2007)</a:t>
            </a:r>
          </a:p>
          <a:p>
            <a:pPr algn="ctr" rtl="1">
              <a:defRPr sz="1000"/>
            </a:pPr>
            <a:r>
              <a:rPr lang="ru-RU" sz="1400" kern="0" dirty="0" err="1">
                <a:latin typeface="Times New Roman"/>
                <a:cs typeface="Times New Roman"/>
              </a:rPr>
              <a:t>Мактаарал</a:t>
            </a:r>
            <a:r>
              <a:rPr lang="ru-RU" sz="1400" kern="0" dirty="0">
                <a:latin typeface="Times New Roman"/>
                <a:cs typeface="Times New Roman"/>
              </a:rPr>
              <a:t> 4005 (2006)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 err="1">
                <a:latin typeface="Times New Roman"/>
                <a:cs typeface="Times New Roman"/>
              </a:rPr>
              <a:t>Максат</a:t>
            </a:r>
            <a:r>
              <a:rPr lang="ru-RU" sz="1400" kern="0" dirty="0">
                <a:latin typeface="Times New Roman"/>
                <a:cs typeface="Times New Roman"/>
              </a:rPr>
              <a:t> (2007)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 err="1">
                <a:latin typeface="Times New Roman"/>
                <a:cs typeface="Times New Roman"/>
              </a:rPr>
              <a:t>Мактаарал</a:t>
            </a:r>
            <a:r>
              <a:rPr lang="ru-RU" sz="1400" kern="0" dirty="0">
                <a:latin typeface="Times New Roman"/>
                <a:cs typeface="Times New Roman"/>
              </a:rPr>
              <a:t> 4007 (2009)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 err="1">
                <a:latin typeface="Times New Roman"/>
                <a:cs typeface="Times New Roman"/>
              </a:rPr>
              <a:t>Мактаарал</a:t>
            </a:r>
            <a:r>
              <a:rPr lang="ru-RU" sz="1400" kern="0" dirty="0">
                <a:latin typeface="Times New Roman"/>
                <a:cs typeface="Times New Roman"/>
              </a:rPr>
              <a:t> 4011 (2011) 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>
                <a:latin typeface="Times New Roman"/>
                <a:cs typeface="Times New Roman"/>
              </a:rPr>
              <a:t>Береке-07 (2011)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>
                <a:latin typeface="Times New Roman"/>
                <a:cs typeface="Times New Roman"/>
              </a:rPr>
              <a:t>Туркестан (2011)</a:t>
            </a:r>
          </a:p>
          <a:p>
            <a:pPr lvl="0" algn="ctr" rtl="1">
              <a:defRPr sz="1000"/>
            </a:pPr>
            <a:r>
              <a:rPr lang="ru-RU" sz="1400" kern="0" dirty="0">
                <a:latin typeface="Times New Roman"/>
                <a:cs typeface="Times New Roman"/>
              </a:rPr>
              <a:t>Мырзашөл-80 (2015)</a:t>
            </a:r>
          </a:p>
          <a:p>
            <a:pPr algn="ctr" rtl="1">
              <a:defRPr sz="1000"/>
            </a:pPr>
            <a:r>
              <a:rPr lang="en-US" sz="1400" kern="0" dirty="0">
                <a:latin typeface="Times New Roman"/>
                <a:cs typeface="Times New Roman"/>
              </a:rPr>
              <a:t>Xin </a:t>
            </a:r>
            <a:r>
              <a:rPr lang="en-US" sz="1400" kern="0" dirty="0" err="1">
                <a:latin typeface="Times New Roman"/>
                <a:cs typeface="Times New Roman"/>
              </a:rPr>
              <a:t>lu</a:t>
            </a:r>
            <a:r>
              <a:rPr lang="en-US" sz="1400" kern="0" dirty="0">
                <a:latin typeface="Times New Roman"/>
                <a:cs typeface="Times New Roman"/>
              </a:rPr>
              <a:t> </a:t>
            </a:r>
            <a:r>
              <a:rPr lang="en-US" sz="1400" kern="0" dirty="0" err="1">
                <a:latin typeface="Times New Roman"/>
                <a:cs typeface="Times New Roman"/>
              </a:rPr>
              <a:t>zhong</a:t>
            </a:r>
            <a:r>
              <a:rPr lang="en-US" sz="1400" kern="0" dirty="0">
                <a:latin typeface="Times New Roman"/>
                <a:cs typeface="Times New Roman"/>
              </a:rPr>
              <a:t> </a:t>
            </a:r>
            <a:r>
              <a:rPr lang="kk-KZ" sz="1400" kern="0" dirty="0">
                <a:latin typeface="Times New Roman"/>
                <a:cs typeface="Times New Roman"/>
              </a:rPr>
              <a:t>№47 (2018) </a:t>
            </a:r>
          </a:p>
          <a:p>
            <a:pPr algn="ctr" rtl="1">
              <a:defRPr sz="1000"/>
            </a:pPr>
            <a:r>
              <a:rPr lang="ru-RU" sz="1400" kern="0" dirty="0">
                <a:latin typeface="Times New Roman"/>
                <a:cs typeface="Times New Roman"/>
              </a:rPr>
              <a:t>КАРЛА (2019) 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b="1" u="sng" kern="0" dirty="0" err="1">
                <a:latin typeface="Times New Roman"/>
                <a:cs typeface="Times New Roman"/>
              </a:rPr>
              <a:t>Мактаарал</a:t>
            </a:r>
            <a:r>
              <a:rPr lang="ru-RU" sz="1400" b="1" u="sng" kern="0" dirty="0">
                <a:latin typeface="Times New Roman"/>
                <a:cs typeface="Times New Roman"/>
              </a:rPr>
              <a:t> -4017 (2020)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600" kern="0" dirty="0" err="1">
                <a:latin typeface="Times New Roman"/>
                <a:cs typeface="Times New Roman"/>
              </a:rPr>
              <a:t>Мактарал</a:t>
            </a:r>
            <a:r>
              <a:rPr lang="ru-RU" sz="1600" kern="0" dirty="0">
                <a:latin typeface="Times New Roman"/>
                <a:cs typeface="Times New Roman"/>
              </a:rPr>
              <a:t> -5027 (2023)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endParaRPr lang="ru-RU" sz="1800" kern="0" dirty="0">
              <a:latin typeface="Times New Roman"/>
              <a:cs typeface="Times New Roman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endParaRPr lang="ru-RU" sz="2000" b="1" kern="0" dirty="0">
              <a:latin typeface="Times New Roman"/>
              <a:cs typeface="Times New Roman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endParaRPr lang="ru-RU" sz="2000" kern="0" dirty="0">
              <a:latin typeface="Times New Roman"/>
              <a:cs typeface="Times New Roman"/>
            </a:endParaRP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BB7B0DC1-357A-5CF5-9269-DF98CA271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2398" y="68288"/>
            <a:ext cx="2520280" cy="720080"/>
          </a:xfrm>
          <a:prstGeom prst="rect">
            <a:avLst/>
          </a:prstGeom>
          <a:ln>
            <a:solidFill>
              <a:schemeClr val="bg1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576" tIns="32004" rIns="0" bIns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2400" b="1" kern="0" baseline="0" dirty="0">
                <a:solidFill>
                  <a:schemeClr val="tx1"/>
                </a:solidFill>
                <a:latin typeface="Times New Roman"/>
                <a:cs typeface="Times New Roman"/>
              </a:rPr>
              <a:t>Хлопчатник</a:t>
            </a:r>
          </a:p>
          <a:p>
            <a:pPr lvl="0" algn="ctr" rtl="1">
              <a:defRPr sz="1000"/>
            </a:pPr>
            <a:r>
              <a:rPr lang="ru-RU" sz="2400" b="1" kern="0" dirty="0">
                <a:solidFill>
                  <a:schemeClr val="tx1"/>
                </a:solidFill>
                <a:latin typeface="Times New Roman"/>
                <a:cs typeface="Times New Roman"/>
              </a:rPr>
              <a:t>Мактаарал-5030</a:t>
            </a:r>
            <a:endParaRPr kumimoji="0" lang="ru-RU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3C7F40ED-8452-2863-A54E-69D778A5AF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3389681"/>
              </p:ext>
            </p:extLst>
          </p:nvPr>
        </p:nvGraphicFramePr>
        <p:xfrm>
          <a:off x="479926" y="934814"/>
          <a:ext cx="6096000" cy="45439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948755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412B3-52C6-6622-B111-078422BDB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C6FA23E-7C7A-B2A0-680F-84BBBC8FB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0248"/>
            <a:ext cx="7029348" cy="5015015"/>
          </a:xfrm>
          <a:prstGeom prst="rect">
            <a:avLst/>
          </a:prstGeom>
        </p:spPr>
      </p:pic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8BA3E400-840C-89AA-EFB6-FB53F979EDDB}"/>
              </a:ext>
            </a:extLst>
          </p:cNvPr>
          <p:cNvSpPr/>
          <p:nvPr/>
        </p:nvSpPr>
        <p:spPr>
          <a:xfrm>
            <a:off x="611560" y="5478774"/>
            <a:ext cx="5357950" cy="12150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Качественные показатели:</a:t>
            </a:r>
          </a:p>
          <a:p>
            <a:pPr algn="ctr"/>
            <a:r>
              <a:rPr lang="kk-KZ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Выход волокна  - 37,35 %, (37,3% ст)</a:t>
            </a:r>
          </a:p>
          <a:p>
            <a:pPr algn="ctr"/>
            <a:r>
              <a:rPr lang="kk-KZ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Длина волокна - 31,3 мм, (33,35 мм ст)</a:t>
            </a:r>
          </a:p>
          <a:p>
            <a:pPr algn="ctr"/>
            <a:r>
              <a:rPr lang="kk-KZ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Микронейр - 4,7. (4,3 ст)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ECEFFF8C-FF2A-6643-5A6E-DF2C4D599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348" y="1230397"/>
            <a:ext cx="2114652" cy="435071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576" tIns="32004" rIns="0" bIns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800" b="1" kern="0" dirty="0">
                <a:latin typeface="Times New Roman"/>
                <a:cs typeface="Times New Roman"/>
              </a:rPr>
              <a:t>Туркестанская область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>
                <a:latin typeface="Times New Roman"/>
                <a:cs typeface="Times New Roman"/>
              </a:rPr>
              <a:t>С-4727 (1961) </a:t>
            </a:r>
            <a:endParaRPr lang="ru-RU" sz="1200" kern="0" dirty="0">
              <a:latin typeface="Times New Roman"/>
              <a:cs typeface="Times New Roman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 err="1">
                <a:latin typeface="Times New Roman"/>
                <a:cs typeface="Times New Roman"/>
              </a:rPr>
              <a:t>Пахтаарал</a:t>
            </a:r>
            <a:r>
              <a:rPr lang="ru-RU" sz="1400" kern="0" dirty="0">
                <a:latin typeface="Times New Roman"/>
                <a:cs typeface="Times New Roman"/>
              </a:rPr>
              <a:t> 3044 (1999) 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 err="1">
                <a:latin typeface="Times New Roman"/>
                <a:cs typeface="Times New Roman"/>
              </a:rPr>
              <a:t>Пахтаарал</a:t>
            </a:r>
            <a:r>
              <a:rPr lang="ru-RU" sz="1400" kern="0" dirty="0">
                <a:latin typeface="Times New Roman"/>
                <a:cs typeface="Times New Roman"/>
              </a:rPr>
              <a:t> 3031 (2000) 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 err="1">
                <a:latin typeface="Times New Roman"/>
                <a:cs typeface="Times New Roman"/>
              </a:rPr>
              <a:t>Егемен</a:t>
            </a:r>
            <a:r>
              <a:rPr lang="ru-RU" sz="1400" kern="0" dirty="0">
                <a:latin typeface="Times New Roman"/>
                <a:cs typeface="Times New Roman"/>
              </a:rPr>
              <a:t> 10 (2006)</a:t>
            </a:r>
          </a:p>
          <a:p>
            <a:pPr algn="ctr" rtl="1">
              <a:defRPr sz="1000"/>
            </a:pPr>
            <a:r>
              <a:rPr lang="ru-RU" sz="1400" kern="0" dirty="0">
                <a:latin typeface="Times New Roman"/>
                <a:cs typeface="Times New Roman"/>
              </a:rPr>
              <a:t>БД-1 (2007)</a:t>
            </a:r>
          </a:p>
          <a:p>
            <a:pPr algn="ctr" rtl="1">
              <a:defRPr sz="1000"/>
            </a:pPr>
            <a:r>
              <a:rPr lang="ru-RU" sz="1400" kern="0" dirty="0" err="1">
                <a:latin typeface="Times New Roman"/>
                <a:cs typeface="Times New Roman"/>
              </a:rPr>
              <a:t>Мактаарал</a:t>
            </a:r>
            <a:r>
              <a:rPr lang="ru-RU" sz="1400" kern="0" dirty="0">
                <a:latin typeface="Times New Roman"/>
                <a:cs typeface="Times New Roman"/>
              </a:rPr>
              <a:t> 4005 (2006)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 err="1">
                <a:latin typeface="Times New Roman"/>
                <a:cs typeface="Times New Roman"/>
              </a:rPr>
              <a:t>Максат</a:t>
            </a:r>
            <a:r>
              <a:rPr lang="ru-RU" sz="1400" kern="0" dirty="0">
                <a:latin typeface="Times New Roman"/>
                <a:cs typeface="Times New Roman"/>
              </a:rPr>
              <a:t> (2007)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 err="1">
                <a:latin typeface="Times New Roman"/>
                <a:cs typeface="Times New Roman"/>
              </a:rPr>
              <a:t>Мактаарал</a:t>
            </a:r>
            <a:r>
              <a:rPr lang="ru-RU" sz="1400" kern="0" dirty="0">
                <a:latin typeface="Times New Roman"/>
                <a:cs typeface="Times New Roman"/>
              </a:rPr>
              <a:t> 4007 (2009)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 err="1">
                <a:latin typeface="Times New Roman"/>
                <a:cs typeface="Times New Roman"/>
              </a:rPr>
              <a:t>Мактаарал</a:t>
            </a:r>
            <a:r>
              <a:rPr lang="ru-RU" sz="1400" kern="0" dirty="0">
                <a:latin typeface="Times New Roman"/>
                <a:cs typeface="Times New Roman"/>
              </a:rPr>
              <a:t> 4011 (2011) 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>
                <a:latin typeface="Times New Roman"/>
                <a:cs typeface="Times New Roman"/>
              </a:rPr>
              <a:t>Береке-07 (2011)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>
                <a:latin typeface="Times New Roman"/>
                <a:cs typeface="Times New Roman"/>
              </a:rPr>
              <a:t>Туркестан (2011)</a:t>
            </a:r>
          </a:p>
          <a:p>
            <a:pPr lvl="0" algn="ctr" rtl="1">
              <a:defRPr sz="1000"/>
            </a:pPr>
            <a:r>
              <a:rPr lang="ru-RU" sz="1400" kern="0" dirty="0">
                <a:latin typeface="Times New Roman"/>
                <a:cs typeface="Times New Roman"/>
              </a:rPr>
              <a:t>Мырзашөл-80 (2015)</a:t>
            </a:r>
          </a:p>
          <a:p>
            <a:pPr algn="ctr" rtl="1">
              <a:defRPr sz="1000"/>
            </a:pPr>
            <a:r>
              <a:rPr lang="en-US" sz="1400" kern="0" dirty="0">
                <a:latin typeface="Times New Roman"/>
                <a:cs typeface="Times New Roman"/>
              </a:rPr>
              <a:t>Xin </a:t>
            </a:r>
            <a:r>
              <a:rPr lang="en-US" sz="1400" kern="0" dirty="0" err="1">
                <a:latin typeface="Times New Roman"/>
                <a:cs typeface="Times New Roman"/>
              </a:rPr>
              <a:t>lu</a:t>
            </a:r>
            <a:r>
              <a:rPr lang="en-US" sz="1400" kern="0" dirty="0">
                <a:latin typeface="Times New Roman"/>
                <a:cs typeface="Times New Roman"/>
              </a:rPr>
              <a:t> </a:t>
            </a:r>
            <a:r>
              <a:rPr lang="en-US" sz="1400" kern="0" dirty="0" err="1">
                <a:latin typeface="Times New Roman"/>
                <a:cs typeface="Times New Roman"/>
              </a:rPr>
              <a:t>zhong</a:t>
            </a:r>
            <a:r>
              <a:rPr lang="en-US" sz="1400" kern="0" dirty="0">
                <a:latin typeface="Times New Roman"/>
                <a:cs typeface="Times New Roman"/>
              </a:rPr>
              <a:t> </a:t>
            </a:r>
            <a:r>
              <a:rPr lang="kk-KZ" sz="1400" kern="0" dirty="0">
                <a:latin typeface="Times New Roman"/>
                <a:cs typeface="Times New Roman"/>
              </a:rPr>
              <a:t>№47 (2018) </a:t>
            </a:r>
          </a:p>
          <a:p>
            <a:pPr algn="ctr" rtl="1">
              <a:defRPr sz="1000"/>
            </a:pPr>
            <a:r>
              <a:rPr lang="ru-RU" sz="1400" kern="0" dirty="0">
                <a:latin typeface="Times New Roman"/>
                <a:cs typeface="Times New Roman"/>
              </a:rPr>
              <a:t>КАРЛА (2019) 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b="1" u="sng" kern="0" dirty="0" err="1">
                <a:latin typeface="Times New Roman"/>
                <a:cs typeface="Times New Roman"/>
              </a:rPr>
              <a:t>Мактаарал</a:t>
            </a:r>
            <a:r>
              <a:rPr lang="ru-RU" sz="1400" b="1" u="sng" kern="0" dirty="0">
                <a:latin typeface="Times New Roman"/>
                <a:cs typeface="Times New Roman"/>
              </a:rPr>
              <a:t> -4017 (2020)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600" kern="0" dirty="0" err="1">
                <a:latin typeface="Times New Roman"/>
                <a:cs typeface="Times New Roman"/>
              </a:rPr>
              <a:t>Мактарал</a:t>
            </a:r>
            <a:r>
              <a:rPr lang="ru-RU" sz="1600" kern="0" dirty="0">
                <a:latin typeface="Times New Roman"/>
                <a:cs typeface="Times New Roman"/>
              </a:rPr>
              <a:t> -5027 (2023)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endParaRPr lang="ru-RU" sz="1800" kern="0" dirty="0">
              <a:latin typeface="Times New Roman"/>
              <a:cs typeface="Times New Roman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endParaRPr lang="ru-RU" sz="2000" b="1" kern="0" dirty="0">
              <a:latin typeface="Times New Roman"/>
              <a:cs typeface="Times New Roman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endParaRPr lang="ru-RU" sz="2000" kern="0" dirty="0">
              <a:latin typeface="Times New Roman"/>
              <a:cs typeface="Times New Roman"/>
            </a:endParaRP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9519BB61-FA1B-69FA-7020-7CA945075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08" y="70169"/>
            <a:ext cx="2520280" cy="720080"/>
          </a:xfrm>
          <a:prstGeom prst="rect">
            <a:avLst/>
          </a:prstGeom>
          <a:ln>
            <a:solidFill>
              <a:schemeClr val="bg1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576" tIns="32004" rIns="0" bIns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2400" b="1" kern="0" baseline="0" dirty="0">
                <a:solidFill>
                  <a:schemeClr val="tx1"/>
                </a:solidFill>
                <a:latin typeface="Times New Roman"/>
                <a:cs typeface="Times New Roman"/>
              </a:rPr>
              <a:t>Хлопчатник</a:t>
            </a:r>
          </a:p>
          <a:p>
            <a:pPr lvl="0" algn="ctr" rtl="1">
              <a:defRPr sz="1000"/>
            </a:pPr>
            <a:r>
              <a:rPr kumimoji="0" lang="ru-RU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cs typeface="Times New Roman"/>
              </a:rPr>
              <a:t>Лима</a:t>
            </a:r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CDCFD4F6-E676-8BBA-3EE4-4EB50590A2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2352216"/>
              </p:ext>
            </p:extLst>
          </p:nvPr>
        </p:nvGraphicFramePr>
        <p:xfrm>
          <a:off x="479926" y="934814"/>
          <a:ext cx="6096000" cy="45439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9728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7395E-F3CD-2A5A-2E0C-A5DBC1251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C52FAF-960A-74EA-A212-A7F13372E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4" y="934815"/>
            <a:ext cx="6948264" cy="4988370"/>
          </a:xfrm>
          <a:prstGeom prst="rect">
            <a:avLst/>
          </a:prstGeom>
        </p:spPr>
      </p:pic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0FB807F1-9C8B-BCBF-DC35-E358E97C3CF4}"/>
              </a:ext>
            </a:extLst>
          </p:cNvPr>
          <p:cNvSpPr/>
          <p:nvPr/>
        </p:nvSpPr>
        <p:spPr>
          <a:xfrm>
            <a:off x="1043608" y="5478774"/>
            <a:ext cx="4924317" cy="12150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Качественные показатели:</a:t>
            </a:r>
          </a:p>
          <a:p>
            <a:pPr algn="ctr"/>
            <a:r>
              <a:rPr lang="kk-KZ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Выход волокна  - 40,6 %, (37,3% ст)</a:t>
            </a:r>
          </a:p>
          <a:p>
            <a:pPr algn="ctr"/>
            <a:r>
              <a:rPr lang="kk-KZ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Длина волокна - 33,4 мм, (33,35 мм ст)</a:t>
            </a:r>
          </a:p>
          <a:p>
            <a:pPr algn="ctr"/>
            <a:r>
              <a:rPr lang="kk-KZ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Микронейр - 4,8. (4,3 ст)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CCAFCC47-57CB-FEF7-50A6-779ECCED8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0272" y="1052736"/>
            <a:ext cx="2123728" cy="460851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576" tIns="32004" rIns="0" bIns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800" b="1" kern="0" dirty="0">
                <a:latin typeface="Times New Roman"/>
                <a:cs typeface="Times New Roman"/>
              </a:rPr>
              <a:t>Туркестанская область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>
                <a:latin typeface="Times New Roman"/>
                <a:cs typeface="Times New Roman"/>
              </a:rPr>
              <a:t>С-4727 (1961) </a:t>
            </a:r>
            <a:endParaRPr lang="ru-RU" sz="1200" kern="0" dirty="0">
              <a:latin typeface="Times New Roman"/>
              <a:cs typeface="Times New Roman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 err="1">
                <a:latin typeface="Times New Roman"/>
                <a:cs typeface="Times New Roman"/>
              </a:rPr>
              <a:t>Пахтаарал</a:t>
            </a:r>
            <a:r>
              <a:rPr lang="ru-RU" sz="1400" kern="0" dirty="0">
                <a:latin typeface="Times New Roman"/>
                <a:cs typeface="Times New Roman"/>
              </a:rPr>
              <a:t> 3044 (1999) 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 err="1">
                <a:latin typeface="Times New Roman"/>
                <a:cs typeface="Times New Roman"/>
              </a:rPr>
              <a:t>Пахтаарал</a:t>
            </a:r>
            <a:r>
              <a:rPr lang="ru-RU" sz="1400" kern="0" dirty="0">
                <a:latin typeface="Times New Roman"/>
                <a:cs typeface="Times New Roman"/>
              </a:rPr>
              <a:t> 3031 (2000) 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 err="1">
                <a:latin typeface="Times New Roman"/>
                <a:cs typeface="Times New Roman"/>
              </a:rPr>
              <a:t>Егемен</a:t>
            </a:r>
            <a:r>
              <a:rPr lang="ru-RU" sz="1400" kern="0" dirty="0">
                <a:latin typeface="Times New Roman"/>
                <a:cs typeface="Times New Roman"/>
              </a:rPr>
              <a:t> 10 (2006)</a:t>
            </a:r>
          </a:p>
          <a:p>
            <a:pPr algn="ctr" rtl="1">
              <a:defRPr sz="1000"/>
            </a:pPr>
            <a:r>
              <a:rPr lang="ru-RU" sz="1400" kern="0" dirty="0">
                <a:latin typeface="Times New Roman"/>
                <a:cs typeface="Times New Roman"/>
              </a:rPr>
              <a:t>БД-1 (2007)</a:t>
            </a:r>
          </a:p>
          <a:p>
            <a:pPr algn="ctr" rtl="1">
              <a:defRPr sz="1000"/>
            </a:pPr>
            <a:r>
              <a:rPr lang="ru-RU" sz="1400" kern="0" dirty="0" err="1">
                <a:latin typeface="Times New Roman"/>
                <a:cs typeface="Times New Roman"/>
              </a:rPr>
              <a:t>Мактаарал</a:t>
            </a:r>
            <a:r>
              <a:rPr lang="ru-RU" sz="1400" kern="0" dirty="0">
                <a:latin typeface="Times New Roman"/>
                <a:cs typeface="Times New Roman"/>
              </a:rPr>
              <a:t> 4005 (2006)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 err="1">
                <a:latin typeface="Times New Roman"/>
                <a:cs typeface="Times New Roman"/>
              </a:rPr>
              <a:t>Максат</a:t>
            </a:r>
            <a:r>
              <a:rPr lang="ru-RU" sz="1400" kern="0" dirty="0">
                <a:latin typeface="Times New Roman"/>
                <a:cs typeface="Times New Roman"/>
              </a:rPr>
              <a:t> (2007)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 err="1">
                <a:latin typeface="Times New Roman"/>
                <a:cs typeface="Times New Roman"/>
              </a:rPr>
              <a:t>Мактаарал</a:t>
            </a:r>
            <a:r>
              <a:rPr lang="ru-RU" sz="1400" kern="0" dirty="0">
                <a:latin typeface="Times New Roman"/>
                <a:cs typeface="Times New Roman"/>
              </a:rPr>
              <a:t> 4007 (2009)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 err="1">
                <a:latin typeface="Times New Roman"/>
                <a:cs typeface="Times New Roman"/>
              </a:rPr>
              <a:t>Мактаарал</a:t>
            </a:r>
            <a:r>
              <a:rPr lang="ru-RU" sz="1400" kern="0" dirty="0">
                <a:latin typeface="Times New Roman"/>
                <a:cs typeface="Times New Roman"/>
              </a:rPr>
              <a:t> 4011 (2011) 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>
                <a:latin typeface="Times New Roman"/>
                <a:cs typeface="Times New Roman"/>
              </a:rPr>
              <a:t>Береке-07 (2011)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kern="0" dirty="0">
                <a:latin typeface="Times New Roman"/>
                <a:cs typeface="Times New Roman"/>
              </a:rPr>
              <a:t>Туркестан (2011)</a:t>
            </a:r>
          </a:p>
          <a:p>
            <a:pPr lvl="0" algn="ctr" rtl="1">
              <a:defRPr sz="1000"/>
            </a:pPr>
            <a:r>
              <a:rPr lang="ru-RU" sz="1400" kern="0" dirty="0">
                <a:latin typeface="Times New Roman"/>
                <a:cs typeface="Times New Roman"/>
              </a:rPr>
              <a:t>Мырзашөл-80 (2015)</a:t>
            </a:r>
          </a:p>
          <a:p>
            <a:pPr algn="ctr" rtl="1">
              <a:defRPr sz="1000"/>
            </a:pPr>
            <a:r>
              <a:rPr lang="en-US" sz="1400" kern="0" dirty="0">
                <a:latin typeface="Times New Roman"/>
                <a:cs typeface="Times New Roman"/>
              </a:rPr>
              <a:t>Xin </a:t>
            </a:r>
            <a:r>
              <a:rPr lang="en-US" sz="1400" kern="0" dirty="0" err="1">
                <a:latin typeface="Times New Roman"/>
                <a:cs typeface="Times New Roman"/>
              </a:rPr>
              <a:t>lu</a:t>
            </a:r>
            <a:r>
              <a:rPr lang="en-US" sz="1400" kern="0" dirty="0">
                <a:latin typeface="Times New Roman"/>
                <a:cs typeface="Times New Roman"/>
              </a:rPr>
              <a:t> </a:t>
            </a:r>
            <a:r>
              <a:rPr lang="en-US" sz="1400" kern="0" dirty="0" err="1">
                <a:latin typeface="Times New Roman"/>
                <a:cs typeface="Times New Roman"/>
              </a:rPr>
              <a:t>zhong</a:t>
            </a:r>
            <a:r>
              <a:rPr lang="en-US" sz="1400" kern="0" dirty="0">
                <a:latin typeface="Times New Roman"/>
                <a:cs typeface="Times New Roman"/>
              </a:rPr>
              <a:t> </a:t>
            </a:r>
            <a:r>
              <a:rPr lang="kk-KZ" sz="1400" kern="0" dirty="0">
                <a:latin typeface="Times New Roman"/>
                <a:cs typeface="Times New Roman"/>
              </a:rPr>
              <a:t>№47 (2018) </a:t>
            </a:r>
          </a:p>
          <a:p>
            <a:pPr algn="ctr" rtl="1">
              <a:defRPr sz="1000"/>
            </a:pPr>
            <a:r>
              <a:rPr lang="ru-RU" sz="1400" kern="0" dirty="0">
                <a:latin typeface="Times New Roman"/>
                <a:cs typeface="Times New Roman"/>
              </a:rPr>
              <a:t>КАРЛА (2019) 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400" b="1" u="sng" kern="0" dirty="0" err="1">
                <a:latin typeface="Times New Roman"/>
                <a:cs typeface="Times New Roman"/>
              </a:rPr>
              <a:t>Мактаарал</a:t>
            </a:r>
            <a:r>
              <a:rPr lang="ru-RU" sz="1400" b="1" u="sng" kern="0" dirty="0">
                <a:latin typeface="Times New Roman"/>
                <a:cs typeface="Times New Roman"/>
              </a:rPr>
              <a:t> -4017 (2020)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1600" kern="0" dirty="0" err="1">
                <a:latin typeface="Times New Roman"/>
                <a:cs typeface="Times New Roman"/>
              </a:rPr>
              <a:t>Мактарал</a:t>
            </a:r>
            <a:r>
              <a:rPr lang="ru-RU" sz="1600" kern="0" dirty="0">
                <a:latin typeface="Times New Roman"/>
                <a:cs typeface="Times New Roman"/>
              </a:rPr>
              <a:t> -5027 (2023)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endParaRPr lang="ru-RU" sz="1800" kern="0" dirty="0">
              <a:latin typeface="Times New Roman"/>
              <a:cs typeface="Times New Roman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endParaRPr lang="ru-RU" sz="2000" b="1" kern="0" dirty="0">
              <a:latin typeface="Times New Roman"/>
              <a:cs typeface="Times New Roman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endParaRPr lang="ru-RU" sz="2000" kern="0" dirty="0">
              <a:latin typeface="Times New Roman"/>
              <a:cs typeface="Times New Roman"/>
            </a:endParaRP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0D668071-B117-E361-1305-6054FC933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2398" y="68288"/>
            <a:ext cx="2520280" cy="720080"/>
          </a:xfrm>
          <a:prstGeom prst="rect">
            <a:avLst/>
          </a:prstGeom>
          <a:ln>
            <a:solidFill>
              <a:schemeClr val="bg1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576" tIns="32004" rIns="0" bIns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ru-RU" sz="2400" b="1" kern="0" baseline="0" dirty="0">
                <a:solidFill>
                  <a:schemeClr val="tx1"/>
                </a:solidFill>
                <a:latin typeface="Times New Roman"/>
                <a:cs typeface="Times New Roman"/>
              </a:rPr>
              <a:t>Хлопчатник</a:t>
            </a:r>
          </a:p>
          <a:p>
            <a:pPr lvl="0" algn="ctr" rtl="1">
              <a:defRPr sz="1000"/>
            </a:pPr>
            <a:r>
              <a:rPr kumimoji="0" lang="ru-RU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cs typeface="Times New Roman"/>
              </a:rPr>
              <a:t>Каризма</a:t>
            </a:r>
            <a:endParaRPr kumimoji="0" lang="ru-RU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1F3B76D4-54F1-C5B9-C592-F733C76A26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6659305"/>
              </p:ext>
            </p:extLst>
          </p:nvPr>
        </p:nvGraphicFramePr>
        <p:xfrm>
          <a:off x="479926" y="934814"/>
          <a:ext cx="6096000" cy="45439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22486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A89D2DC-A572-4EA7-AA85-3095BEE854A4}"/>
              </a:ext>
            </a:extLst>
          </p:cNvPr>
          <p:cNvSpPr/>
          <p:nvPr/>
        </p:nvSpPr>
        <p:spPr>
          <a:xfrm>
            <a:off x="251520" y="2492896"/>
            <a:ext cx="8784976" cy="18448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 !</a:t>
            </a:r>
          </a:p>
        </p:txBody>
      </p:sp>
    </p:spTree>
    <p:extLst>
      <p:ext uri="{BB962C8B-B14F-4D97-AF65-F5344CB8AC3E}">
        <p14:creationId xmlns:p14="http://schemas.microsoft.com/office/powerpoint/2010/main" val="310929031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8037</TotalTime>
  <Words>1129</Words>
  <Application>Microsoft Office PowerPoint</Application>
  <PresentationFormat>Экран (4:3)</PresentationFormat>
  <Paragraphs>332</Paragraphs>
  <Slides>10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Times New Roman</vt:lpstr>
      <vt:lpstr>Trebuchet MS</vt:lpstr>
      <vt:lpstr>Wingdings 3</vt:lpstr>
      <vt:lpstr>Аспект</vt:lpstr>
      <vt:lpstr>Презентация PowerPoint</vt:lpstr>
      <vt:lpstr>Қант қызылшасы - Сахарная свекла  </vt:lpstr>
      <vt:lpstr>Қант қызылшасы - Сахарная свекла </vt:lpstr>
      <vt:lpstr>Қант қызылшасы - Сахарная свекла </vt:lpstr>
      <vt:lpstr>Қант қызылшасы - Сахарная свекла  </vt:lpstr>
      <vt:lpstr>Қант қызылшасы - Сахарная свекла 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admin</cp:lastModifiedBy>
  <cp:revision>529</cp:revision>
  <cp:lastPrinted>2021-11-17T06:01:59Z</cp:lastPrinted>
  <dcterms:created xsi:type="dcterms:W3CDTF">2015-12-04T13:05:37Z</dcterms:created>
  <dcterms:modified xsi:type="dcterms:W3CDTF">2024-12-04T12:11:34Z</dcterms:modified>
</cp:coreProperties>
</file>